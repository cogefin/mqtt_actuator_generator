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9"/>
  </p:notesMasterIdLst>
  <p:handoutMasterIdLst>
    <p:handoutMasterId r:id="rId10"/>
  </p:handoutMasterIdLst>
  <p:sldIdLst>
    <p:sldId id="380" r:id="rId2"/>
    <p:sldId id="407" r:id="rId3"/>
    <p:sldId id="419" r:id="rId4"/>
    <p:sldId id="410" r:id="rId5"/>
    <p:sldId id="416" r:id="rId6"/>
    <p:sldId id="417" r:id="rId7"/>
    <p:sldId id="418" r:id="rId8"/>
  </p:sldIdLst>
  <p:sldSz cx="9144000" cy="5143500" type="screen16x9"/>
  <p:notesSz cx="6742113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602" userDrawn="1">
          <p15:clr>
            <a:srgbClr val="A4A3A4"/>
          </p15:clr>
        </p15:guide>
        <p15:guide id="4" orient="horz" pos="577" userDrawn="1">
          <p15:clr>
            <a:srgbClr val="A4A3A4"/>
          </p15:clr>
        </p15:guide>
        <p15:guide id="5" orient="horz" pos="2981" userDrawn="1">
          <p15:clr>
            <a:srgbClr val="A4A3A4"/>
          </p15:clr>
        </p15:guide>
        <p15:guide id="6" pos="1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5"/>
    <a:srgbClr val="FFEFFF"/>
    <a:srgbClr val="FFE1FF"/>
    <a:srgbClr val="00E7EF"/>
    <a:srgbClr val="FFFFCC"/>
    <a:srgbClr val="FFE700"/>
    <a:srgbClr val="FFFFFF"/>
    <a:srgbClr val="000000"/>
    <a:srgbClr val="EA0000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91ACBC-5457-416D-B41B-682B2DFFD321}" v="16" dt="2026-06-25T05:29:11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55" autoAdjust="0"/>
    <p:restoredTop sz="86335" autoAdjust="0"/>
  </p:normalViewPr>
  <p:slideViewPr>
    <p:cSldViewPr snapToGrid="0">
      <p:cViewPr varScale="1">
        <p:scale>
          <a:sx n="115" d="100"/>
          <a:sy n="115" d="100"/>
        </p:scale>
        <p:origin x="88" y="500"/>
      </p:cViewPr>
      <p:guideLst>
        <p:guide orient="horz" pos="1620"/>
        <p:guide pos="2880"/>
        <p:guide pos="5602"/>
        <p:guide orient="horz" pos="577"/>
        <p:guide orient="horz" pos="2981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3452" y="2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り ぶ" userId="e79b0678f96bfbc0" providerId="LiveId" clId="{AAEDD26B-EFCD-460D-8863-543060308144}"/>
    <pc:docChg chg="undo custSel addSld delSld modSld sldOrd">
      <pc:chgData name="り ぶ" userId="e79b0678f96bfbc0" providerId="LiveId" clId="{AAEDD26B-EFCD-460D-8863-543060308144}" dt="2026-06-25T05:29:11.923" v="1869"/>
      <pc:docMkLst>
        <pc:docMk/>
      </pc:docMkLst>
      <pc:sldChg chg="addSp delSp modSp mod">
        <pc:chgData name="り ぶ" userId="e79b0678f96bfbc0" providerId="LiveId" clId="{AAEDD26B-EFCD-460D-8863-543060308144}" dt="2026-06-11T09:00:43.411" v="1384" actId="20577"/>
        <pc:sldMkLst>
          <pc:docMk/>
          <pc:sldMk cId="1738919896" sldId="407"/>
        </pc:sldMkLst>
        <pc:spChg chg="mod">
          <ac:chgData name="り ぶ" userId="e79b0678f96bfbc0" providerId="LiveId" clId="{AAEDD26B-EFCD-460D-8863-543060308144}" dt="2026-06-11T09:00:43.411" v="1384" actId="20577"/>
          <ac:spMkLst>
            <pc:docMk/>
            <pc:sldMk cId="1738919896" sldId="407"/>
            <ac:spMk id="6" creationId="{01D750F5-01EA-9E88-FCBB-9F965040BDB9}"/>
          </ac:spMkLst>
        </pc:spChg>
        <pc:spChg chg="mod">
          <ac:chgData name="り ぶ" userId="e79b0678f96bfbc0" providerId="LiveId" clId="{AAEDD26B-EFCD-460D-8863-543060308144}" dt="2026-06-11T09:00:38.541" v="1378" actId="20577"/>
          <ac:spMkLst>
            <pc:docMk/>
            <pc:sldMk cId="1738919896" sldId="407"/>
            <ac:spMk id="7" creationId="{FCFE1B37-921B-B614-DE95-2998D8D25377}"/>
          </ac:spMkLst>
        </pc:spChg>
      </pc:sldChg>
      <pc:sldChg chg="addSp modSp mod">
        <pc:chgData name="り ぶ" userId="e79b0678f96bfbc0" providerId="LiveId" clId="{AAEDD26B-EFCD-460D-8863-543060308144}" dt="2026-06-25T05:23:29.694" v="1760"/>
        <pc:sldMkLst>
          <pc:docMk/>
          <pc:sldMk cId="2942891423" sldId="416"/>
        </pc:sldMkLst>
        <pc:spChg chg="mod">
          <ac:chgData name="り ぶ" userId="e79b0678f96bfbc0" providerId="LiveId" clId="{AAEDD26B-EFCD-460D-8863-543060308144}" dt="2026-06-25T05:23:29.694" v="1760"/>
          <ac:spMkLst>
            <pc:docMk/>
            <pc:sldMk cId="2942891423" sldId="416"/>
            <ac:spMk id="3" creationId="{9876E499-F168-43A6-4FA2-FA4E04A36E73}"/>
          </ac:spMkLst>
        </pc:spChg>
        <pc:spChg chg="mod">
          <ac:chgData name="り ぶ" userId="e79b0678f96bfbc0" providerId="LiveId" clId="{AAEDD26B-EFCD-460D-8863-543060308144}" dt="2026-06-11T09:06:55.302" v="1667" actId="20577"/>
          <ac:spMkLst>
            <pc:docMk/>
            <pc:sldMk cId="2942891423" sldId="416"/>
            <ac:spMk id="4" creationId="{234B2E61-2BE7-CB35-ED0D-AE083334140D}"/>
          </ac:spMkLst>
        </pc:spChg>
        <pc:spChg chg="add mod">
          <ac:chgData name="り ぶ" userId="e79b0678f96bfbc0" providerId="LiveId" clId="{AAEDD26B-EFCD-460D-8863-543060308144}" dt="2026-06-11T09:06:46.578" v="1665" actId="692"/>
          <ac:spMkLst>
            <pc:docMk/>
            <pc:sldMk cId="2942891423" sldId="416"/>
            <ac:spMk id="7" creationId="{C33EC734-AD0E-DE7F-F1EE-286B28C2D3A3}"/>
          </ac:spMkLst>
        </pc:spChg>
        <pc:spChg chg="add mod">
          <ac:chgData name="り ぶ" userId="e79b0678f96bfbc0" providerId="LiveId" clId="{AAEDD26B-EFCD-460D-8863-543060308144}" dt="2026-06-11T09:07:14.350" v="1699" actId="1076"/>
          <ac:spMkLst>
            <pc:docMk/>
            <pc:sldMk cId="2942891423" sldId="416"/>
            <ac:spMk id="8" creationId="{D0588095-4DD6-6B65-8159-54AAD43C4B1F}"/>
          </ac:spMkLst>
        </pc:spChg>
      </pc:sldChg>
      <pc:sldChg chg="addSp delSp modSp new mod">
        <pc:chgData name="り ぶ" userId="e79b0678f96bfbc0" providerId="LiveId" clId="{AAEDD26B-EFCD-460D-8863-543060308144}" dt="2026-06-25T05:29:11.923" v="1869"/>
        <pc:sldMkLst>
          <pc:docMk/>
          <pc:sldMk cId="1432369430" sldId="417"/>
        </pc:sldMkLst>
        <pc:spChg chg="add mod">
          <ac:chgData name="り ぶ" userId="e79b0678f96bfbc0" providerId="LiveId" clId="{AAEDD26B-EFCD-460D-8863-543060308144}" dt="2026-06-25T05:28:17.254" v="1827" actId="1076"/>
          <ac:spMkLst>
            <pc:docMk/>
            <pc:sldMk cId="1432369430" sldId="417"/>
            <ac:spMk id="3" creationId="{4544EBAC-B5EE-A4E1-DCE3-97498374B40A}"/>
          </ac:spMkLst>
        </pc:spChg>
        <pc:spChg chg="add mod">
          <ac:chgData name="り ぶ" userId="e79b0678f96bfbc0" providerId="LiveId" clId="{AAEDD26B-EFCD-460D-8863-543060308144}" dt="2026-06-25T05:28:15.657" v="1826" actId="1076"/>
          <ac:spMkLst>
            <pc:docMk/>
            <pc:sldMk cId="1432369430" sldId="417"/>
            <ac:spMk id="4" creationId="{C5FDE430-A009-05A6-414A-C9B68528E9E9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7" creationId="{98BA05D9-2C3D-9DDF-6D5F-75191B080D9D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12" creationId="{4B484D3D-15AD-6C57-B4DC-85FB8D4A46EB}"/>
          </ac:spMkLst>
        </pc:spChg>
        <pc:spChg chg="add mod">
          <ac:chgData name="り ぶ" userId="e79b0678f96bfbc0" providerId="LiveId" clId="{AAEDD26B-EFCD-460D-8863-543060308144}" dt="2026-06-11T09:07:26.920" v="1701" actId="20577"/>
          <ac:spMkLst>
            <pc:docMk/>
            <pc:sldMk cId="1432369430" sldId="417"/>
            <ac:spMk id="14" creationId="{CA2430CC-5847-C4C2-B858-832E08813B69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15" creationId="{22A1C831-AFA6-63B7-582A-1D2C27834B6E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24" creationId="{EBA5564B-6855-9B46-6A7F-45D0C1910A6C}"/>
          </ac:spMkLst>
        </pc:spChg>
        <pc:spChg chg="add mod">
          <ac:chgData name="り ぶ" userId="e79b0678f96bfbc0" providerId="LiveId" clId="{AAEDD26B-EFCD-460D-8863-543060308144}" dt="2026-06-25T05:29:11.923" v="1869"/>
          <ac:spMkLst>
            <pc:docMk/>
            <pc:sldMk cId="1432369430" sldId="417"/>
            <ac:spMk id="26" creationId="{8C4607C0-A528-6BFB-A6FA-98649BBE5249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29" creationId="{389D5A3E-9ECA-A393-9B2C-A2A9D1E3FB2F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31" creationId="{831124FF-E1DF-F21A-B710-92D352C3626E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32" creationId="{12D3A330-1EBB-F3E6-E5C7-A928431EF181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46" creationId="{E18DC213-31BB-DC24-E3B6-A164EDD8A500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48" creationId="{40E3B40A-6DF0-1206-2D30-58B3C3961CAD}"/>
          </ac:spMkLst>
        </pc:spChg>
        <pc:spChg chg="add mod ord">
          <ac:chgData name="り ぶ" userId="e79b0678f96bfbc0" providerId="LiveId" clId="{AAEDD26B-EFCD-460D-8863-543060308144}" dt="2026-06-25T05:25:09.513" v="1764" actId="1076"/>
          <ac:spMkLst>
            <pc:docMk/>
            <pc:sldMk cId="1432369430" sldId="417"/>
            <ac:spMk id="51" creationId="{F611FCC3-10E1-4120-A39D-134E4E92B103}"/>
          </ac:spMkLst>
        </pc:spChg>
        <pc:spChg chg="mod">
          <ac:chgData name="り ぶ" userId="e79b0678f96bfbc0" providerId="LiveId" clId="{AAEDD26B-EFCD-460D-8863-543060308144}" dt="2026-06-25T05:25:13.606" v="1765" actId="14100"/>
          <ac:spMkLst>
            <pc:docMk/>
            <pc:sldMk cId="1432369430" sldId="417"/>
            <ac:spMk id="52" creationId="{CFE9C8B4-9B1F-1B8C-8CD4-2E964E6EAA12}"/>
          </ac:spMkLst>
        </pc:spChg>
        <pc:spChg chg="mod">
          <ac:chgData name="り ぶ" userId="e79b0678f96bfbc0" providerId="LiveId" clId="{AAEDD26B-EFCD-460D-8863-543060308144}" dt="2026-06-25T05:25:56.166" v="1766" actId="1076"/>
          <ac:spMkLst>
            <pc:docMk/>
            <pc:sldMk cId="1432369430" sldId="417"/>
            <ac:spMk id="53" creationId="{10E35ECF-B755-8995-096A-0E63B800C1F6}"/>
          </ac:spMkLst>
        </pc:spChg>
        <pc:cxnChg chg="add mod">
          <ac:chgData name="り ぶ" userId="e79b0678f96bfbc0" providerId="LiveId" clId="{AAEDD26B-EFCD-460D-8863-543060308144}" dt="2026-06-25T05:28:51.178" v="1834" actId="1076"/>
          <ac:cxnSpMkLst>
            <pc:docMk/>
            <pc:sldMk cId="1432369430" sldId="417"/>
            <ac:cxnSpMk id="8" creationId="{0A5A3363-4F27-D4D9-AF2F-16A6FF163F23}"/>
          </ac:cxnSpMkLst>
        </pc:cxnChg>
        <pc:cxnChg chg="add mod">
          <ac:chgData name="り ぶ" userId="e79b0678f96bfbc0" providerId="LiveId" clId="{AAEDD26B-EFCD-460D-8863-543060308144}" dt="2026-06-25T05:28:29.240" v="1830" actId="14100"/>
          <ac:cxnSpMkLst>
            <pc:docMk/>
            <pc:sldMk cId="1432369430" sldId="417"/>
            <ac:cxnSpMk id="17" creationId="{50EE8527-1807-ACF7-7ECB-76074F16DF47}"/>
          </ac:cxnSpMkLst>
        </pc:cxnChg>
      </pc:sldChg>
      <pc:sldChg chg="add ord">
        <pc:chgData name="り ぶ" userId="e79b0678f96bfbc0" providerId="LiveId" clId="{AAEDD26B-EFCD-460D-8863-543060308144}" dt="2026-06-11T09:09:28.838" v="1718"/>
        <pc:sldMkLst>
          <pc:docMk/>
          <pc:sldMk cId="1150876324" sldId="418"/>
        </pc:sldMkLst>
      </pc:sldChg>
      <pc:sldChg chg="modSp new mod">
        <pc:chgData name="り ぶ" userId="e79b0678f96bfbc0" providerId="LiveId" clId="{AAEDD26B-EFCD-460D-8863-543060308144}" dt="2026-06-11T09:04:36.308" v="1626"/>
        <pc:sldMkLst>
          <pc:docMk/>
          <pc:sldMk cId="911215961" sldId="419"/>
        </pc:sldMkLst>
        <pc:spChg chg="mod">
          <ac:chgData name="り ぶ" userId="e79b0678f96bfbc0" providerId="LiveId" clId="{AAEDD26B-EFCD-460D-8863-543060308144}" dt="2026-06-11T09:02:15.256" v="1402"/>
          <ac:spMkLst>
            <pc:docMk/>
            <pc:sldMk cId="911215961" sldId="419"/>
            <ac:spMk id="2" creationId="{1CC9A871-0364-7A5B-9DE7-166485FEAD59}"/>
          </ac:spMkLst>
        </pc:spChg>
        <pc:spChg chg="mod">
          <ac:chgData name="り ぶ" userId="e79b0678f96bfbc0" providerId="LiveId" clId="{AAEDD26B-EFCD-460D-8863-543060308144}" dt="2026-06-11T09:04:36.308" v="1626"/>
          <ac:spMkLst>
            <pc:docMk/>
            <pc:sldMk cId="911215961" sldId="419"/>
            <ac:spMk id="3" creationId="{A510CF75-F249-190F-5A5C-A34D5B1D149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ED8D3B-9082-49AA-B4BC-F3F4425AA7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ACFA8-1AB5-47AD-8712-789ED582E266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1EDE976-DD9F-4E5B-8DD7-50A554BDD8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A504E-F46D-4C99-BD4A-3BE220F742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94160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2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49E156C8-D1E6-4437-B817-0C57EC289493}" type="datetimeFigureOut">
              <a:rPr kumimoji="1" lang="ja-JP" altLang="en-US" smtClean="0"/>
              <a:pPr/>
              <a:t>2026/6/25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22963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4212" y="4751219"/>
            <a:ext cx="539369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 dirty="0"/>
              <a:t>Headline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1st subhead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2nd subhead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Text</a:t>
            </a:r>
          </a:p>
          <a:p>
            <a:pPr lvl="4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+mn-lt"/>
              </a:defRPr>
            </a:lvl1pPr>
          </a:lstStyle>
          <a:p>
            <a:fld id="{C0644275-5C74-4E59-8F01-9B0DD8D2F6FE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40971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23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4659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95966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6657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89576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7459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708F9C0-B03E-4ABD-81EF-A8BB7439D621}"/>
              </a:ext>
            </a:extLst>
          </p:cNvPr>
          <p:cNvSpPr/>
          <p:nvPr userDrawn="1"/>
        </p:nvSpPr>
        <p:spPr>
          <a:xfrm>
            <a:off x="6874213" y="0"/>
            <a:ext cx="2269787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99" y="1116000"/>
            <a:ext cx="6575364" cy="1440000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99" y="3067200"/>
            <a:ext cx="6575363" cy="1260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altLang="ja-JP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2A2B3EE-7C59-4DF5-A28E-640979443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78000"/>
            <a:ext cx="540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641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431003-5452-43E8-91F6-5795452BC86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000" y="1116000"/>
            <a:ext cx="8280000" cy="1440000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00" y="2710800"/>
            <a:ext cx="8280000" cy="1447200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7F34FAF-5899-4FCC-97CF-1CDD972A6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052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85609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65141DF-701C-41EB-B436-0296F415C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1978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92094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400" y="950400"/>
            <a:ext cx="4280400" cy="3787200"/>
          </a:xfrm>
        </p:spPr>
        <p:txBody>
          <a:bodyPr/>
          <a:lstStyle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600" y="950400"/>
            <a:ext cx="4280400" cy="3787200"/>
          </a:xfrm>
        </p:spPr>
        <p:txBody>
          <a:bodyPr/>
          <a:lstStyle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8B49C1F-04E6-4106-8F00-66058D906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699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85609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DF87A6-DCE7-4D8E-9E35-54CD7B854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4677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CA31111-72AC-4540-8598-6B2D0B11659B}"/>
              </a:ext>
            </a:extLst>
          </p:cNvPr>
          <p:cNvSpPr/>
          <p:nvPr userDrawn="1"/>
        </p:nvSpPr>
        <p:spPr>
          <a:xfrm>
            <a:off x="6880698" y="0"/>
            <a:ext cx="2263302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D8338C9-50E0-476B-A1C1-2CD93525E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78000"/>
            <a:ext cx="540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D4A2A5-1915-4F3E-BD41-D723F919F40C}"/>
              </a:ext>
            </a:extLst>
          </p:cNvPr>
          <p:cNvSpPr txBox="1"/>
          <p:nvPr userDrawn="1"/>
        </p:nvSpPr>
        <p:spPr>
          <a:xfrm>
            <a:off x="6809362" y="4940177"/>
            <a:ext cx="23346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700" dirty="0"/>
              <a:t>© 2023 Hiroshima Prefecture. All rights reserved.</a:t>
            </a:r>
            <a:endParaRPr kumimoji="1" lang="ja-JP" altLang="en-US" sz="7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7C4AF0D-95A2-45DB-8885-315F831EDA20}"/>
              </a:ext>
            </a:extLst>
          </p:cNvPr>
          <p:cNvSpPr/>
          <p:nvPr userDrawn="1"/>
        </p:nvSpPr>
        <p:spPr>
          <a:xfrm>
            <a:off x="6874213" y="0"/>
            <a:ext cx="2269787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B73585-FD00-D04E-2C11-961BCD516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343" y="209637"/>
            <a:ext cx="1690733" cy="304462"/>
          </a:xfrm>
          <a:prstGeom prst="rect">
            <a:avLst/>
          </a:prstGeom>
          <a:solidFill>
            <a:srgbClr val="00E7EF"/>
          </a:solidFill>
        </p:spPr>
      </p:pic>
    </p:spTree>
    <p:extLst>
      <p:ext uri="{BB962C8B-B14F-4D97-AF65-F5344CB8AC3E}">
        <p14:creationId xmlns:p14="http://schemas.microsoft.com/office/powerpoint/2010/main" val="1735700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7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AC9C8F6-653F-4247-8137-AAA15CB89CD8}"/>
              </a:ext>
            </a:extLst>
          </p:cNvPr>
          <p:cNvSpPr/>
          <p:nvPr userDrawn="1"/>
        </p:nvSpPr>
        <p:spPr>
          <a:xfrm>
            <a:off x="0" y="2204"/>
            <a:ext cx="9144000" cy="719328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34000" y="0"/>
            <a:ext cx="6664823" cy="687600"/>
          </a:xfrm>
          <a:prstGeom prst="rect">
            <a:avLst/>
          </a:prstGeom>
        </p:spPr>
        <p:txBody>
          <a:bodyPr vert="horz" lIns="0" tIns="108000" rIns="0" bIns="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30400" y="950400"/>
            <a:ext cx="8679600" cy="3787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 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 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 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</a:t>
            </a:r>
            <a:r>
              <a:rPr lang="ja-JP" altLang="en-US" dirty="0"/>
              <a:t> 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0DC7B19-3A52-4E26-9964-A6ACE8964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089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699" r:id="rId2"/>
    <p:sldLayoutId id="2147483700" r:id="rId3"/>
    <p:sldLayoutId id="2147483701" r:id="rId4"/>
    <p:sldLayoutId id="2147483702" r:id="rId5"/>
    <p:sldLayoutId id="2147483722" r:id="rId6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2800" b="1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750"/>
        </a:spcBef>
        <a:buClr>
          <a:schemeClr val="accent4"/>
        </a:buClr>
        <a:buSzPct val="90000"/>
        <a:buFont typeface="Wingdings" panose="05000000000000000000" pitchFamily="2" charset="2"/>
        <a:buChar char="l"/>
        <a:defRPr kumimoji="1" sz="22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Ø"/>
        <a:defRPr kumimoji="1" sz="18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5pPr>
      <a:lvl6pPr marL="18859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6pPr>
      <a:lvl7pPr marL="22288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7pPr>
      <a:lvl8pPr marL="25717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8pPr>
      <a:lvl9pPr marL="29146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A9657-0BCA-9C9B-0D22-4A47038F2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kumimoji="1" lang="en-US" altLang="ja-JP" dirty="0"/>
              <a:t>IoT</a:t>
            </a:r>
            <a:r>
              <a:rPr kumimoji="1" lang="ja-JP" altLang="en-US" dirty="0"/>
              <a:t>アクチュエータ端末プログラム自動生成環境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44C89F-5A53-AEC2-8774-F954F32C89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7023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EF8221B-2039-2572-30C3-65B6D030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対象とする</a:t>
            </a:r>
            <a:r>
              <a:rPr lang="en-US" altLang="ja-JP" dirty="0"/>
              <a:t>IoT</a:t>
            </a:r>
            <a:r>
              <a:rPr lang="ja-JP" altLang="en-US" dirty="0"/>
              <a:t>システム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099E23B-DED6-6FAF-C46E-C1A54A0AFC48}"/>
              </a:ext>
            </a:extLst>
          </p:cNvPr>
          <p:cNvSpPr/>
          <p:nvPr/>
        </p:nvSpPr>
        <p:spPr>
          <a:xfrm>
            <a:off x="326277" y="1488294"/>
            <a:ext cx="6022623" cy="303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6" name="雲 5">
            <a:extLst>
              <a:ext uri="{FF2B5EF4-FFF2-40B4-BE49-F238E27FC236}">
                <a16:creationId xmlns:a16="http://schemas.microsoft.com/office/drawing/2014/main" id="{01D750F5-01EA-9E88-FCBB-9F965040BDB9}"/>
              </a:ext>
            </a:extLst>
          </p:cNvPr>
          <p:cNvSpPr/>
          <p:nvPr/>
        </p:nvSpPr>
        <p:spPr>
          <a:xfrm>
            <a:off x="4096202" y="3271092"/>
            <a:ext cx="1837268" cy="833967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IoT</a:t>
            </a:r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専用</a:t>
            </a:r>
            <a:endParaRPr kumimoji="1"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ネットワーク</a:t>
            </a:r>
          </a:p>
        </p:txBody>
      </p:sp>
      <p:sp>
        <p:nvSpPr>
          <p:cNvPr id="7" name="雲 6">
            <a:extLst>
              <a:ext uri="{FF2B5EF4-FFF2-40B4-BE49-F238E27FC236}">
                <a16:creationId xmlns:a16="http://schemas.microsoft.com/office/drawing/2014/main" id="{FCFE1B37-921B-B614-DE95-2998D8D25377}"/>
              </a:ext>
            </a:extLst>
          </p:cNvPr>
          <p:cNvSpPr/>
          <p:nvPr/>
        </p:nvSpPr>
        <p:spPr>
          <a:xfrm>
            <a:off x="930515" y="3289294"/>
            <a:ext cx="1837268" cy="833967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IoT</a:t>
            </a:r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専用</a:t>
            </a:r>
            <a:endParaRPr kumimoji="1"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ネットワーク</a:t>
            </a:r>
          </a:p>
        </p:txBody>
      </p:sp>
      <p:sp>
        <p:nvSpPr>
          <p:cNvPr id="8" name="雲 7">
            <a:extLst>
              <a:ext uri="{FF2B5EF4-FFF2-40B4-BE49-F238E27FC236}">
                <a16:creationId xmlns:a16="http://schemas.microsoft.com/office/drawing/2014/main" id="{2FA6FE30-618D-28FA-B35B-7A2BBFEC62D6}"/>
              </a:ext>
            </a:extLst>
          </p:cNvPr>
          <p:cNvSpPr/>
          <p:nvPr/>
        </p:nvSpPr>
        <p:spPr>
          <a:xfrm>
            <a:off x="1849149" y="2062052"/>
            <a:ext cx="2827867" cy="1099819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インターネット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A4E45C-E619-6223-E40C-4F195902735B}"/>
              </a:ext>
            </a:extLst>
          </p:cNvPr>
          <p:cNvSpPr/>
          <p:nvPr/>
        </p:nvSpPr>
        <p:spPr>
          <a:xfrm>
            <a:off x="1510482" y="2860459"/>
            <a:ext cx="1327573" cy="6028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GW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ゲートウェイ</a:t>
            </a:r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)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F11A52E-234C-D615-9414-8E8BE324A3E0}"/>
              </a:ext>
            </a:extLst>
          </p:cNvPr>
          <p:cNvSpPr/>
          <p:nvPr/>
        </p:nvSpPr>
        <p:spPr>
          <a:xfrm>
            <a:off x="3837122" y="2809659"/>
            <a:ext cx="1327573" cy="6028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GW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ゲートウェイ</a:t>
            </a:r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)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E061F07-9B0C-5ACE-C12D-E34BFCCADE2B}"/>
              </a:ext>
            </a:extLst>
          </p:cNvPr>
          <p:cNvSpPr/>
          <p:nvPr/>
        </p:nvSpPr>
        <p:spPr>
          <a:xfrm>
            <a:off x="2672109" y="1656924"/>
            <a:ext cx="1327573" cy="6028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IoT</a:t>
            </a:r>
            <a:r>
              <a:rPr kumimoji="1"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サーバ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84260FF-4A4D-CB41-E9F2-7C2326835F7B}"/>
              </a:ext>
            </a:extLst>
          </p:cNvPr>
          <p:cNvSpPr/>
          <p:nvPr/>
        </p:nvSpPr>
        <p:spPr>
          <a:xfrm>
            <a:off x="533853" y="3726599"/>
            <a:ext cx="677334" cy="319195"/>
          </a:xfrm>
          <a:prstGeom prst="rect">
            <a:avLst/>
          </a:prstGeom>
          <a:solidFill>
            <a:srgbClr val="FFEB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照明</a:t>
            </a:r>
            <a:endParaRPr kumimoji="1" lang="ja-JP" altLang="en-US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3891698-DDBB-B195-79ED-727673D10692}"/>
              </a:ext>
            </a:extLst>
          </p:cNvPr>
          <p:cNvSpPr/>
          <p:nvPr/>
        </p:nvSpPr>
        <p:spPr>
          <a:xfrm>
            <a:off x="1377133" y="4000496"/>
            <a:ext cx="822960" cy="364584"/>
          </a:xfrm>
          <a:prstGeom prst="rect">
            <a:avLst/>
          </a:prstGeom>
          <a:solidFill>
            <a:srgbClr val="FFEB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ロボット</a:t>
            </a:r>
            <a:endParaRPr kumimoji="1" lang="ja-JP" altLang="en-US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B2804F3-EC18-AE32-652B-668F326F3772}"/>
              </a:ext>
            </a:extLst>
          </p:cNvPr>
          <p:cNvSpPr/>
          <p:nvPr/>
        </p:nvSpPr>
        <p:spPr>
          <a:xfrm>
            <a:off x="2333442" y="3840898"/>
            <a:ext cx="677334" cy="319195"/>
          </a:xfrm>
          <a:prstGeom prst="rect">
            <a:avLst/>
          </a:prstGeom>
          <a:solidFill>
            <a:srgbClr val="FFEB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家電</a:t>
            </a:r>
            <a:endParaRPr kumimoji="1" lang="ja-JP" altLang="en-US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0DDB30D-3656-1A30-5FAF-39730A81D415}"/>
              </a:ext>
            </a:extLst>
          </p:cNvPr>
          <p:cNvSpPr/>
          <p:nvPr/>
        </p:nvSpPr>
        <p:spPr>
          <a:xfrm>
            <a:off x="3999682" y="3909478"/>
            <a:ext cx="677334" cy="3191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センサ</a:t>
            </a:r>
            <a:endParaRPr kumimoji="1" lang="ja-JP" altLang="en-US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51196C4-41E8-6B26-D071-7887FBF829BD}"/>
              </a:ext>
            </a:extLst>
          </p:cNvPr>
          <p:cNvSpPr/>
          <p:nvPr/>
        </p:nvSpPr>
        <p:spPr>
          <a:xfrm>
            <a:off x="4842962" y="3985256"/>
            <a:ext cx="677334" cy="3191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センサ</a:t>
            </a:r>
            <a:endParaRPr kumimoji="1" lang="ja-JP" altLang="en-US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6FBF05E-928F-EA28-0576-731561CEC02E}"/>
              </a:ext>
            </a:extLst>
          </p:cNvPr>
          <p:cNvSpPr/>
          <p:nvPr/>
        </p:nvSpPr>
        <p:spPr>
          <a:xfrm>
            <a:off x="5568555" y="3775705"/>
            <a:ext cx="677334" cy="31919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センサ</a:t>
            </a:r>
            <a:endParaRPr kumimoji="1" lang="ja-JP" altLang="en-US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B11FB4A2-DA29-CDEF-9C22-B442122898E2}"/>
              </a:ext>
            </a:extLst>
          </p:cNvPr>
          <p:cNvSpPr/>
          <p:nvPr/>
        </p:nvSpPr>
        <p:spPr>
          <a:xfrm>
            <a:off x="5205336" y="3126312"/>
            <a:ext cx="663786" cy="602827"/>
          </a:xfrm>
          <a:custGeom>
            <a:avLst/>
            <a:gdLst>
              <a:gd name="connsiteX0" fmla="*/ 663786 w 663786"/>
              <a:gd name="connsiteY0" fmla="*/ 602827 h 602827"/>
              <a:gd name="connsiteX1" fmla="*/ 487680 w 663786"/>
              <a:gd name="connsiteY1" fmla="*/ 304800 h 602827"/>
              <a:gd name="connsiteX2" fmla="*/ 0 w 663786"/>
              <a:gd name="connsiteY2" fmla="*/ 0 h 602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3786" h="602827">
                <a:moveTo>
                  <a:pt x="663786" y="602827"/>
                </a:moveTo>
                <a:cubicBezTo>
                  <a:pt x="631048" y="504049"/>
                  <a:pt x="598311" y="405271"/>
                  <a:pt x="487680" y="304800"/>
                </a:cubicBezTo>
                <a:cubicBezTo>
                  <a:pt x="377049" y="204329"/>
                  <a:pt x="188524" y="10216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A8BAB528-9FDE-B9BF-1E2E-CD2A2E5A7243}"/>
              </a:ext>
            </a:extLst>
          </p:cNvPr>
          <p:cNvSpPr/>
          <p:nvPr/>
        </p:nvSpPr>
        <p:spPr>
          <a:xfrm flipH="1">
            <a:off x="803095" y="3142821"/>
            <a:ext cx="663786" cy="602827"/>
          </a:xfrm>
          <a:custGeom>
            <a:avLst/>
            <a:gdLst>
              <a:gd name="connsiteX0" fmla="*/ 663786 w 663786"/>
              <a:gd name="connsiteY0" fmla="*/ 602827 h 602827"/>
              <a:gd name="connsiteX1" fmla="*/ 487680 w 663786"/>
              <a:gd name="connsiteY1" fmla="*/ 304800 h 602827"/>
              <a:gd name="connsiteX2" fmla="*/ 0 w 663786"/>
              <a:gd name="connsiteY2" fmla="*/ 0 h 602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3786" h="602827">
                <a:moveTo>
                  <a:pt x="663786" y="602827"/>
                </a:moveTo>
                <a:cubicBezTo>
                  <a:pt x="631048" y="504049"/>
                  <a:pt x="598311" y="405271"/>
                  <a:pt x="487680" y="304800"/>
                </a:cubicBezTo>
                <a:cubicBezTo>
                  <a:pt x="377049" y="204329"/>
                  <a:pt x="188524" y="10216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00576AD-183E-4CE0-C1BB-581464D21E89}"/>
              </a:ext>
            </a:extLst>
          </p:cNvPr>
          <p:cNvSpPr txBox="1"/>
          <p:nvPr/>
        </p:nvSpPr>
        <p:spPr>
          <a:xfrm>
            <a:off x="5319722" y="2868502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データ送信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(push)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315D0151-E611-89B2-3F69-3733501F250D}"/>
              </a:ext>
            </a:extLst>
          </p:cNvPr>
          <p:cNvSpPr/>
          <p:nvPr/>
        </p:nvSpPr>
        <p:spPr>
          <a:xfrm flipH="1">
            <a:off x="1722573" y="1952832"/>
            <a:ext cx="949535" cy="922870"/>
          </a:xfrm>
          <a:custGeom>
            <a:avLst/>
            <a:gdLst>
              <a:gd name="connsiteX0" fmla="*/ 663786 w 663786"/>
              <a:gd name="connsiteY0" fmla="*/ 602827 h 602827"/>
              <a:gd name="connsiteX1" fmla="*/ 487680 w 663786"/>
              <a:gd name="connsiteY1" fmla="*/ 304800 h 602827"/>
              <a:gd name="connsiteX2" fmla="*/ 0 w 663786"/>
              <a:gd name="connsiteY2" fmla="*/ 0 h 602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3786" h="602827">
                <a:moveTo>
                  <a:pt x="663786" y="602827"/>
                </a:moveTo>
                <a:cubicBezTo>
                  <a:pt x="631048" y="504049"/>
                  <a:pt x="598311" y="405271"/>
                  <a:pt x="487680" y="304800"/>
                </a:cubicBezTo>
                <a:cubicBezTo>
                  <a:pt x="377049" y="204329"/>
                  <a:pt x="188524" y="10216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フリーフォーム: 図形 22">
            <a:extLst>
              <a:ext uri="{FF2B5EF4-FFF2-40B4-BE49-F238E27FC236}">
                <a16:creationId xmlns:a16="http://schemas.microsoft.com/office/drawing/2014/main" id="{3713AE3B-02BC-D7E3-E1B9-B9EFC9852DCA}"/>
              </a:ext>
            </a:extLst>
          </p:cNvPr>
          <p:cNvSpPr/>
          <p:nvPr/>
        </p:nvSpPr>
        <p:spPr>
          <a:xfrm>
            <a:off x="4026140" y="1902873"/>
            <a:ext cx="949535" cy="922870"/>
          </a:xfrm>
          <a:custGeom>
            <a:avLst/>
            <a:gdLst>
              <a:gd name="connsiteX0" fmla="*/ 663786 w 663786"/>
              <a:gd name="connsiteY0" fmla="*/ 602827 h 602827"/>
              <a:gd name="connsiteX1" fmla="*/ 487680 w 663786"/>
              <a:gd name="connsiteY1" fmla="*/ 304800 h 602827"/>
              <a:gd name="connsiteX2" fmla="*/ 0 w 663786"/>
              <a:gd name="connsiteY2" fmla="*/ 0 h 602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3786" h="602827">
                <a:moveTo>
                  <a:pt x="663786" y="602827"/>
                </a:moveTo>
                <a:cubicBezTo>
                  <a:pt x="631048" y="504049"/>
                  <a:pt x="598311" y="405271"/>
                  <a:pt x="487680" y="304800"/>
                </a:cubicBezTo>
                <a:cubicBezTo>
                  <a:pt x="377049" y="204329"/>
                  <a:pt x="188524" y="10216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448A238-5983-5341-CD49-86F02311811B}"/>
              </a:ext>
            </a:extLst>
          </p:cNvPr>
          <p:cNvSpPr txBox="1"/>
          <p:nvPr/>
        </p:nvSpPr>
        <p:spPr>
          <a:xfrm>
            <a:off x="4162449" y="179365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データアクセス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(pull)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316608A-3DB0-4670-BC1D-BFDEA48F046A}"/>
              </a:ext>
            </a:extLst>
          </p:cNvPr>
          <p:cNvSpPr txBox="1"/>
          <p:nvPr/>
        </p:nvSpPr>
        <p:spPr>
          <a:xfrm>
            <a:off x="1469604" y="1865622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データ送信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(push)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6" name="吹き出し: 四角形 25">
            <a:extLst>
              <a:ext uri="{FF2B5EF4-FFF2-40B4-BE49-F238E27FC236}">
                <a16:creationId xmlns:a16="http://schemas.microsoft.com/office/drawing/2014/main" id="{8B26B2CA-87CE-B6EA-D149-0788AF54D863}"/>
              </a:ext>
            </a:extLst>
          </p:cNvPr>
          <p:cNvSpPr/>
          <p:nvPr/>
        </p:nvSpPr>
        <p:spPr>
          <a:xfrm>
            <a:off x="5353714" y="2084278"/>
            <a:ext cx="677334" cy="657013"/>
          </a:xfrm>
          <a:prstGeom prst="wedgeRectCallout">
            <a:avLst>
              <a:gd name="adj1" fmla="val -84833"/>
              <a:gd name="adj2" fmla="val 73840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センサ</a:t>
            </a:r>
            <a:endParaRPr kumimoji="1" lang="en-US" altLang="ja-JP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データ</a:t>
            </a:r>
            <a:endParaRPr kumimoji="1" lang="en-US" altLang="ja-JP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蓄積</a:t>
            </a:r>
          </a:p>
        </p:txBody>
      </p:sp>
      <p:sp>
        <p:nvSpPr>
          <p:cNvPr id="27" name="吹き出し: 四角形 26">
            <a:extLst>
              <a:ext uri="{FF2B5EF4-FFF2-40B4-BE49-F238E27FC236}">
                <a16:creationId xmlns:a16="http://schemas.microsoft.com/office/drawing/2014/main" id="{48BE772C-E7D8-6605-F5D5-0453D3EB5F1A}"/>
              </a:ext>
            </a:extLst>
          </p:cNvPr>
          <p:cNvSpPr/>
          <p:nvPr/>
        </p:nvSpPr>
        <p:spPr>
          <a:xfrm>
            <a:off x="495117" y="2203446"/>
            <a:ext cx="1015683" cy="657013"/>
          </a:xfrm>
          <a:prstGeom prst="wedgeRectCallout">
            <a:avLst>
              <a:gd name="adj1" fmla="val 65167"/>
              <a:gd name="adj2" fmla="val 74871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制御命令</a:t>
            </a:r>
            <a:endParaRPr kumimoji="1" lang="en-US" altLang="ja-JP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中継</a:t>
            </a:r>
            <a:r>
              <a:rPr kumimoji="1" lang="en-US" altLang="ja-JP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/</a:t>
            </a:r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配送</a:t>
            </a:r>
          </a:p>
        </p:txBody>
      </p:sp>
      <p:sp>
        <p:nvSpPr>
          <p:cNvPr id="28" name="吹き出し: 四角形 27">
            <a:extLst>
              <a:ext uri="{FF2B5EF4-FFF2-40B4-BE49-F238E27FC236}">
                <a16:creationId xmlns:a16="http://schemas.microsoft.com/office/drawing/2014/main" id="{C912EA19-026D-4733-2D5D-B75C555615CF}"/>
              </a:ext>
            </a:extLst>
          </p:cNvPr>
          <p:cNvSpPr/>
          <p:nvPr/>
        </p:nvSpPr>
        <p:spPr>
          <a:xfrm>
            <a:off x="6560673" y="1800473"/>
            <a:ext cx="1660173" cy="345895"/>
          </a:xfrm>
          <a:prstGeom prst="wedgeRectCallout">
            <a:avLst>
              <a:gd name="adj1" fmla="val -69552"/>
              <a:gd name="adj2" fmla="val 29094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プロトコル </a:t>
            </a:r>
            <a:r>
              <a:rPr kumimoji="1" lang="en-US" altLang="ja-JP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: MQTT</a:t>
            </a:r>
            <a:endParaRPr kumimoji="1" lang="ja-JP" altLang="en-US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3786A5B-7E9F-4C71-FC18-F9CE1B55B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029D89-7B63-4C94-AD4D-2E4D6BB83637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6C688C2-CC98-B6CA-8826-D616DB8C1985}"/>
              </a:ext>
            </a:extLst>
          </p:cNvPr>
          <p:cNvSpPr txBox="1"/>
          <p:nvPr/>
        </p:nvSpPr>
        <p:spPr>
          <a:xfrm>
            <a:off x="5353714" y="1246475"/>
            <a:ext cx="37184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i="0" dirty="0">
                <a:solidFill>
                  <a:srgbClr val="24292F"/>
                </a:solidFill>
                <a:effectLst/>
                <a:latin typeface="-apple-system"/>
              </a:rPr>
              <a:t>Message Queuing Telemetry Transport</a:t>
            </a:r>
          </a:p>
          <a:p>
            <a:pPr algn="l"/>
            <a:r>
              <a:rPr kumimoji="1" lang="en-US" altLang="ja-JP" sz="1400" dirty="0"/>
              <a:t>IoT</a:t>
            </a:r>
            <a:r>
              <a:rPr kumimoji="1" lang="ja-JP" altLang="en-US" sz="1400" dirty="0"/>
              <a:t>向けに設計された</a:t>
            </a:r>
            <a:r>
              <a:rPr kumimoji="1" lang="en-US" altLang="ja-JP" sz="1400" dirty="0"/>
              <a:t>pub/sub</a:t>
            </a:r>
            <a:r>
              <a:rPr kumimoji="1" lang="ja-JP" altLang="en-US" sz="1400" dirty="0"/>
              <a:t>型プロトコル</a:t>
            </a:r>
          </a:p>
        </p:txBody>
      </p:sp>
      <p:sp>
        <p:nvSpPr>
          <p:cNvPr id="29" name="吹き出し: 四角形 28">
            <a:extLst>
              <a:ext uri="{FF2B5EF4-FFF2-40B4-BE49-F238E27FC236}">
                <a16:creationId xmlns:a16="http://schemas.microsoft.com/office/drawing/2014/main" id="{741F0C69-9084-DAD3-3CD3-5251BA66CE55}"/>
              </a:ext>
            </a:extLst>
          </p:cNvPr>
          <p:cNvSpPr/>
          <p:nvPr/>
        </p:nvSpPr>
        <p:spPr>
          <a:xfrm>
            <a:off x="2761656" y="927002"/>
            <a:ext cx="1739251" cy="459117"/>
          </a:xfrm>
          <a:prstGeom prst="wedgeRectCallout">
            <a:avLst>
              <a:gd name="adj1" fmla="val -21039"/>
              <a:gd name="adj2" fmla="val 133669"/>
            </a:avLst>
          </a:prstGeom>
          <a:solidFill>
            <a:srgbClr val="FFFFE5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センサデータ解析</a:t>
            </a:r>
            <a:endParaRPr kumimoji="1" lang="en-US" altLang="ja-JP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/</a:t>
            </a:r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アクチュエータ制御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F27A3AD-355D-A988-9F8B-C70CA8FF13D0}"/>
              </a:ext>
            </a:extLst>
          </p:cNvPr>
          <p:cNvSpPr txBox="1"/>
          <p:nvPr/>
        </p:nvSpPr>
        <p:spPr>
          <a:xfrm>
            <a:off x="180135" y="3089750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制御命令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フェッチ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(pull)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A796718-5ED7-AD67-E0B4-D79737D7D8B4}"/>
              </a:ext>
            </a:extLst>
          </p:cNvPr>
          <p:cNvSpPr txBox="1"/>
          <p:nvPr/>
        </p:nvSpPr>
        <p:spPr>
          <a:xfrm>
            <a:off x="1134988" y="4434829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>
                <a:solidFill>
                  <a:srgbClr val="FF0000"/>
                </a:solidFill>
              </a:rPr>
              <a:t>アクチュエータ</a:t>
            </a:r>
          </a:p>
        </p:txBody>
      </p:sp>
    </p:spTree>
    <p:extLst>
      <p:ext uri="{BB962C8B-B14F-4D97-AF65-F5344CB8AC3E}">
        <p14:creationId xmlns:p14="http://schemas.microsoft.com/office/powerpoint/2010/main" val="1738919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C9A871-0364-7A5B-9DE7-166485FEA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現在の問題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10CF75-F249-190F-5A5C-A34D5B1D1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センサ端末やアクチュエータ端末を開発するには，ハード</a:t>
            </a:r>
            <a:r>
              <a:rPr kumimoji="1" lang="en-US" altLang="ja-JP" dirty="0"/>
              <a:t>/</a:t>
            </a:r>
            <a:r>
              <a:rPr kumimoji="1" lang="ja-JP" altLang="en-US" dirty="0"/>
              <a:t>ソフト</a:t>
            </a:r>
            <a:r>
              <a:rPr kumimoji="1" lang="en-US" altLang="ja-JP" dirty="0"/>
              <a:t>/</a:t>
            </a:r>
            <a:r>
              <a:rPr kumimoji="1" lang="ja-JP" altLang="en-US" dirty="0"/>
              <a:t>ネットワーク等幅広い技能が必要</a:t>
            </a:r>
            <a:endParaRPr lang="en-US" altLang="ja-JP" dirty="0"/>
          </a:p>
          <a:p>
            <a:pPr lvl="1"/>
            <a:r>
              <a:rPr kumimoji="1" lang="ja-JP" altLang="en-US" dirty="0"/>
              <a:t>システムの試作に高度な技術者の雇用が必要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市販でそのまま使えるものは非常に少ない上に高価</a:t>
            </a:r>
          </a:p>
        </p:txBody>
      </p:sp>
    </p:spTree>
    <p:extLst>
      <p:ext uri="{BB962C8B-B14F-4D97-AF65-F5344CB8AC3E}">
        <p14:creationId xmlns:p14="http://schemas.microsoft.com/office/powerpoint/2010/main" val="911215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D9C7BB-18AC-74A0-5662-2C84806F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IoT</a:t>
            </a:r>
            <a:r>
              <a:rPr kumimoji="1" lang="ja-JP" altLang="en-US" dirty="0"/>
              <a:t>端末プログラム自動生成環境</a:t>
            </a:r>
            <a:r>
              <a:rPr lang="ja-JP" altLang="en-US" dirty="0"/>
              <a:t>の目的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E0969D-C2FB-3A7F-FD01-E729A4420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最終ゴール</a:t>
            </a:r>
            <a:endParaRPr kumimoji="1" lang="en-US" altLang="ja-JP" dirty="0"/>
          </a:p>
          <a:p>
            <a:pPr lvl="1"/>
            <a:r>
              <a:rPr lang="ja-JP" altLang="en-US" dirty="0"/>
              <a:t>ある程度の</a:t>
            </a:r>
            <a:r>
              <a:rPr lang="en-US" altLang="ja-JP" dirty="0"/>
              <a:t>IT</a:t>
            </a:r>
            <a:r>
              <a:rPr lang="ja-JP" altLang="en-US" dirty="0"/>
              <a:t>リテラシがある人なら誰でも</a:t>
            </a:r>
            <a:r>
              <a:rPr lang="ja-JP" altLang="en-US" dirty="0">
                <a:solidFill>
                  <a:srgbClr val="FF0000"/>
                </a:solidFill>
              </a:rPr>
              <a:t>実験レベル</a:t>
            </a:r>
            <a:r>
              <a:rPr lang="ja-JP" altLang="en-US" dirty="0"/>
              <a:t>の端末を開発可能にする</a:t>
            </a:r>
            <a:r>
              <a:rPr lang="en-US" altLang="ja-JP" dirty="0"/>
              <a:t> (</a:t>
            </a:r>
            <a:r>
              <a:rPr lang="ja-JP" altLang="en-US" dirty="0"/>
              <a:t>ハード</a:t>
            </a:r>
            <a:r>
              <a:rPr lang="en-US" altLang="ja-JP" dirty="0"/>
              <a:t>/</a:t>
            </a:r>
            <a:r>
              <a:rPr lang="ja-JP" altLang="en-US" dirty="0"/>
              <a:t>ソフト両方</a:t>
            </a:r>
            <a:r>
              <a:rPr lang="en-US" altLang="ja-JP" dirty="0"/>
              <a:t>)</a:t>
            </a:r>
          </a:p>
          <a:p>
            <a:pPr lvl="1"/>
            <a:endParaRPr lang="en-US" altLang="ja-JP" dirty="0"/>
          </a:p>
          <a:p>
            <a:r>
              <a:rPr lang="ja-JP" altLang="en-US" dirty="0"/>
              <a:t>現状</a:t>
            </a:r>
            <a:endParaRPr lang="en-US" altLang="ja-JP" dirty="0"/>
          </a:p>
          <a:p>
            <a:pPr lvl="1"/>
            <a:r>
              <a:rPr kumimoji="1" lang="ja-JP" altLang="en-US" dirty="0"/>
              <a:t>ハードウェア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組み立てだけで作成する仕組み </a:t>
            </a:r>
            <a:r>
              <a:rPr kumimoji="1" lang="en-US" altLang="ja-JP" dirty="0"/>
              <a:t>: </a:t>
            </a:r>
            <a:r>
              <a:rPr kumimoji="1" lang="ja-JP" altLang="en-US" dirty="0"/>
              <a:t>制限はあるが，ある程度使えるものは存在</a:t>
            </a:r>
            <a:endParaRPr kumimoji="1" lang="en-US" altLang="ja-JP" dirty="0"/>
          </a:p>
          <a:p>
            <a:pPr lvl="2"/>
            <a:endParaRPr kumimoji="1" lang="en-US" altLang="ja-JP" dirty="0"/>
          </a:p>
          <a:p>
            <a:pPr lvl="1"/>
            <a:r>
              <a:rPr kumimoji="1" lang="ja-JP" altLang="en-US" dirty="0"/>
              <a:t>ソフトウェア</a:t>
            </a:r>
            <a:endParaRPr kumimoji="1" lang="en-US" altLang="ja-JP" dirty="0"/>
          </a:p>
          <a:p>
            <a:pPr lvl="2"/>
            <a:r>
              <a:rPr lang="ja-JP" altLang="en-US" dirty="0"/>
              <a:t>仕様からソフトウェアを生成する仕組み </a:t>
            </a:r>
            <a:r>
              <a:rPr lang="en-US" altLang="ja-JP" dirty="0"/>
              <a:t>: </a:t>
            </a:r>
            <a:r>
              <a:rPr lang="ja-JP" altLang="en-US" dirty="0">
                <a:solidFill>
                  <a:srgbClr val="FF0000"/>
                </a:solidFill>
              </a:rPr>
              <a:t>不足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A35AACA5-506F-500E-9275-AF56DAAC88E6}"/>
              </a:ext>
            </a:extLst>
          </p:cNvPr>
          <p:cNvSpPr/>
          <p:nvPr/>
        </p:nvSpPr>
        <p:spPr>
          <a:xfrm>
            <a:off x="5350214" y="1880681"/>
            <a:ext cx="3417650" cy="1018567"/>
          </a:xfrm>
          <a:prstGeom prst="wedgeRectCallout">
            <a:avLst/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</a:rPr>
              <a:t>Arduino</a:t>
            </a:r>
            <a:r>
              <a:rPr kumimoji="1" lang="ja-JP" altLang="en-US" sz="1600" dirty="0">
                <a:solidFill>
                  <a:schemeClr val="tx1"/>
                </a:solidFill>
              </a:rPr>
              <a:t>等を対象とした仕組み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en-US" altLang="ja-JP" sz="1400" dirty="0" err="1">
                <a:solidFill>
                  <a:schemeClr val="tx1"/>
                </a:solidFill>
              </a:rPr>
              <a:t>Sparcfun</a:t>
            </a:r>
            <a:r>
              <a:rPr kumimoji="1" lang="en-US" altLang="ja-JP" sz="1400" dirty="0">
                <a:solidFill>
                  <a:schemeClr val="tx1"/>
                </a:solidFill>
              </a:rPr>
              <a:t> Electronics : </a:t>
            </a:r>
            <a:r>
              <a:rPr kumimoji="1" lang="en-US" altLang="ja-JP" sz="1400" dirty="0" err="1">
                <a:solidFill>
                  <a:schemeClr val="tx1"/>
                </a:solidFill>
              </a:rPr>
              <a:t>Qwiic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en-US" altLang="ja-JP" sz="1400" dirty="0" err="1">
                <a:solidFill>
                  <a:schemeClr val="tx1"/>
                </a:solidFill>
              </a:rPr>
              <a:t>Seeed</a:t>
            </a:r>
            <a:r>
              <a:rPr kumimoji="1" lang="en-US" altLang="ja-JP" sz="1400" dirty="0">
                <a:solidFill>
                  <a:schemeClr val="tx1"/>
                </a:solidFill>
              </a:rPr>
              <a:t> Studio : Grove</a:t>
            </a:r>
            <a:endParaRPr kumimoji="1" lang="ja-JP" altLang="en-US" sz="1400" dirty="0" err="1">
              <a:solidFill>
                <a:schemeClr val="tx1"/>
              </a:solidFill>
            </a:endParaRP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71C2A481-9E6D-C82D-1AC7-7C4A18C85C4F}"/>
              </a:ext>
            </a:extLst>
          </p:cNvPr>
          <p:cNvSpPr/>
          <p:nvPr/>
        </p:nvSpPr>
        <p:spPr>
          <a:xfrm>
            <a:off x="5724728" y="3872985"/>
            <a:ext cx="2585553" cy="414817"/>
          </a:xfrm>
          <a:prstGeom prst="wedgeRectCallout">
            <a:avLst>
              <a:gd name="adj1" fmla="val -62732"/>
              <a:gd name="adj2" fmla="val -35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センサ端末用は以前開発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5F0C65-029F-BFC6-ECA1-A3B3FF258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029D89-7B63-4C94-AD4D-2E4D6BB83637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638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1185F-031F-4B5F-BB06-80CC6C31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できあがる端末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76E499-F168-43A6-4FA2-FA4E04A36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マイコン本体</a:t>
            </a:r>
            <a:endParaRPr kumimoji="1" lang="en-US" altLang="ja-JP" dirty="0"/>
          </a:p>
          <a:p>
            <a:pPr lvl="1"/>
            <a:r>
              <a:rPr lang="en-US" altLang="ja-JP" dirty="0"/>
              <a:t>Arduino (</a:t>
            </a:r>
            <a:r>
              <a:rPr lang="ja-JP" altLang="en-US" dirty="0"/>
              <a:t>および互換機</a:t>
            </a:r>
            <a:r>
              <a:rPr lang="en-US" altLang="ja-JP" dirty="0"/>
              <a:t>)</a:t>
            </a:r>
          </a:p>
          <a:p>
            <a:pPr lvl="1"/>
            <a:endParaRPr kumimoji="1" lang="en-US" altLang="ja-JP" dirty="0"/>
          </a:p>
          <a:p>
            <a:r>
              <a:rPr kumimoji="1" lang="ja-JP" altLang="en-US" dirty="0"/>
              <a:t>周辺回路接続</a:t>
            </a:r>
            <a:r>
              <a:rPr kumimoji="1" lang="en-US" altLang="ja-JP" dirty="0"/>
              <a:t>(</a:t>
            </a:r>
            <a:r>
              <a:rPr kumimoji="1" lang="ja-JP" altLang="en-US" dirty="0"/>
              <a:t>はんだ付け回避</a:t>
            </a:r>
            <a:r>
              <a:rPr kumimoji="1" lang="en-US" altLang="ja-JP" dirty="0"/>
              <a:t>)</a:t>
            </a:r>
          </a:p>
          <a:p>
            <a:pPr lvl="1"/>
            <a:r>
              <a:rPr lang="en-US" altLang="ja-JP" dirty="0" err="1"/>
              <a:t>Seeed</a:t>
            </a:r>
            <a:r>
              <a:rPr lang="en-US" altLang="ja-JP" dirty="0"/>
              <a:t> Studio</a:t>
            </a:r>
            <a:r>
              <a:rPr lang="ja-JP" altLang="en-US" dirty="0"/>
              <a:t>社の</a:t>
            </a:r>
            <a:r>
              <a:rPr lang="en-US" altLang="ja-JP" dirty="0"/>
              <a:t>Grove system</a:t>
            </a:r>
            <a:r>
              <a:rPr lang="ja-JP" altLang="en-US" dirty="0"/>
              <a:t>を活用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kumimoji="1" lang="ja-JP" altLang="en-US" dirty="0"/>
              <a:t>周辺回路</a:t>
            </a:r>
            <a:endParaRPr kumimoji="1" lang="en-US" altLang="ja-JP" dirty="0"/>
          </a:p>
          <a:p>
            <a:pPr lvl="1"/>
            <a:r>
              <a:rPr lang="en-US" altLang="ja-JP" dirty="0" err="1"/>
              <a:t>Seeed</a:t>
            </a:r>
            <a:r>
              <a:rPr lang="en-US" altLang="ja-JP" dirty="0"/>
              <a:t> Studio</a:t>
            </a:r>
            <a:r>
              <a:rPr lang="ja-JP" altLang="en-US" dirty="0"/>
              <a:t>社のモジュール</a:t>
            </a:r>
            <a:endParaRPr lang="en-US" altLang="ja-JP" dirty="0"/>
          </a:p>
          <a:p>
            <a:pPr lvl="1"/>
            <a:r>
              <a:rPr kumimoji="1" lang="en-US" altLang="ja-JP" dirty="0"/>
              <a:t>Arduino</a:t>
            </a:r>
            <a:r>
              <a:rPr kumimoji="1" lang="ja-JP" altLang="en-US" dirty="0"/>
              <a:t>公式のシールド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マイコン関連ベンダの</a:t>
            </a:r>
            <a:r>
              <a:rPr lang="ja-JP" altLang="en-US" dirty="0"/>
              <a:t>回路</a:t>
            </a:r>
            <a:endParaRPr kumimoji="1" lang="en-US" altLang="ja-JP" dirty="0"/>
          </a:p>
          <a:p>
            <a:pPr lvl="2"/>
            <a:r>
              <a:rPr lang="en-US" altLang="ja-JP" dirty="0"/>
              <a:t>Adafruit, </a:t>
            </a:r>
            <a:r>
              <a:rPr lang="en-US" altLang="ja-JP" dirty="0" err="1"/>
              <a:t>Sparcfun</a:t>
            </a:r>
            <a:r>
              <a:rPr lang="en-US" altLang="ja-JP" dirty="0"/>
              <a:t>, </a:t>
            </a:r>
            <a:r>
              <a:rPr lang="ja-JP" altLang="en-US" dirty="0"/>
              <a:t>秋月電子など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4B2E61-2BE7-CB35-ED0D-AE08333414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端末のプログラム</a:t>
            </a:r>
            <a:r>
              <a:rPr lang="en-US" altLang="ja-JP" dirty="0"/>
              <a:t> : </a:t>
            </a:r>
            <a:r>
              <a:rPr kumimoji="1" lang="ja-JP" altLang="en-US" dirty="0"/>
              <a:t>自動生成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動作テストに利用した機種</a:t>
            </a:r>
            <a:endParaRPr lang="en-US" altLang="ja-JP" dirty="0"/>
          </a:p>
          <a:p>
            <a:pPr lvl="1"/>
            <a:r>
              <a:rPr kumimoji="1" lang="en-US" altLang="ja-JP" dirty="0"/>
              <a:t>MKR Zero, MKR </a:t>
            </a:r>
            <a:r>
              <a:rPr kumimoji="1" lang="en-US" altLang="ja-JP" dirty="0" err="1"/>
              <a:t>WiFi</a:t>
            </a:r>
            <a:r>
              <a:rPr kumimoji="1" lang="en-US" altLang="ja-JP" dirty="0"/>
              <a:t> 1010</a:t>
            </a:r>
          </a:p>
          <a:p>
            <a:pPr lvl="1"/>
            <a:r>
              <a:rPr lang="en-US" altLang="ja-JP" dirty="0"/>
              <a:t>Nano 33 IoT</a:t>
            </a:r>
          </a:p>
          <a:p>
            <a:pPr lvl="1"/>
            <a:r>
              <a:rPr kumimoji="1" lang="en-US" altLang="ja-JP" dirty="0"/>
              <a:t>Uno </a:t>
            </a:r>
            <a:r>
              <a:rPr lang="en-US" altLang="ja-JP" dirty="0"/>
              <a:t>R4 , Giga R1 </a:t>
            </a:r>
            <a:r>
              <a:rPr lang="en-US" altLang="ja-JP" dirty="0" err="1"/>
              <a:t>WiFi</a:t>
            </a:r>
            <a:endParaRPr lang="en-US" altLang="ja-JP" dirty="0"/>
          </a:p>
          <a:p>
            <a:pPr lvl="1"/>
            <a:r>
              <a:rPr kumimoji="1" lang="en-US" altLang="ja-JP" dirty="0"/>
              <a:t>Nano ESP32</a:t>
            </a:r>
          </a:p>
        </p:txBody>
      </p:sp>
      <p:sp>
        <p:nvSpPr>
          <p:cNvPr id="5" name="フローチャート: 代替処理 4">
            <a:extLst>
              <a:ext uri="{FF2B5EF4-FFF2-40B4-BE49-F238E27FC236}">
                <a16:creationId xmlns:a16="http://schemas.microsoft.com/office/drawing/2014/main" id="{8A3E470E-24FE-090E-D397-3F260E71FD41}"/>
              </a:ext>
            </a:extLst>
          </p:cNvPr>
          <p:cNvSpPr/>
          <p:nvPr/>
        </p:nvSpPr>
        <p:spPr>
          <a:xfrm>
            <a:off x="4771281" y="1358920"/>
            <a:ext cx="3621024" cy="478427"/>
          </a:xfrm>
          <a:prstGeom prst="flowChartAlternateProcess">
            <a:avLst/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機種限定</a:t>
            </a:r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 dirty="0">
                <a:solidFill>
                  <a:schemeClr val="tx1"/>
                </a:solidFill>
              </a:rPr>
              <a:t>メモリ容量が足かせ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フローチャート: 代替処理 5">
            <a:extLst>
              <a:ext uri="{FF2B5EF4-FFF2-40B4-BE49-F238E27FC236}">
                <a16:creationId xmlns:a16="http://schemas.microsoft.com/office/drawing/2014/main" id="{C4C94140-10EB-10AD-98B9-86995DD63EB1}"/>
              </a:ext>
            </a:extLst>
          </p:cNvPr>
          <p:cNvSpPr/>
          <p:nvPr/>
        </p:nvSpPr>
        <p:spPr>
          <a:xfrm>
            <a:off x="4331303" y="79003"/>
            <a:ext cx="3956568" cy="653794"/>
          </a:xfrm>
          <a:prstGeom prst="flowChartAlternateProcess">
            <a:avLst/>
          </a:prstGeom>
          <a:solidFill>
            <a:srgbClr val="FFE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dirty="0">
                <a:solidFill>
                  <a:schemeClr val="tx1"/>
                </a:solidFill>
              </a:rPr>
              <a:t>複数種類のアクチュエータを搭載可能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r>
              <a:rPr kumimoji="1" lang="ja-JP" altLang="en-US" sz="1200" dirty="0">
                <a:solidFill>
                  <a:schemeClr val="tx1"/>
                </a:solidFill>
              </a:rPr>
              <a:t>・</a:t>
            </a:r>
            <a:r>
              <a:rPr kumimoji="1" lang="en-US" altLang="ja-JP" sz="1200" dirty="0">
                <a:solidFill>
                  <a:schemeClr val="tx1"/>
                </a:solidFill>
              </a:rPr>
              <a:t>Arduino</a:t>
            </a:r>
            <a:r>
              <a:rPr kumimoji="1" lang="ja-JP" altLang="en-US" sz="1200" dirty="0">
                <a:solidFill>
                  <a:schemeClr val="tx1"/>
                </a:solidFill>
              </a:rPr>
              <a:t>のメモリ容量の許容範囲内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r>
              <a:rPr kumimoji="1" lang="ja-JP" altLang="en-US" sz="1200" dirty="0">
                <a:solidFill>
                  <a:schemeClr val="tx1"/>
                </a:solidFill>
              </a:rPr>
              <a:t>・同一のアクチュエータ複数は不可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C33EC734-AD0E-DE7F-F1EE-286B28C2D3A3}"/>
              </a:ext>
            </a:extLst>
          </p:cNvPr>
          <p:cNvSpPr/>
          <p:nvPr/>
        </p:nvSpPr>
        <p:spPr>
          <a:xfrm>
            <a:off x="4832604" y="3306154"/>
            <a:ext cx="4077396" cy="768096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588095-4DD6-6B65-8159-54AAD43C4B1F}"/>
              </a:ext>
            </a:extLst>
          </p:cNvPr>
          <p:cNvSpPr txBox="1"/>
          <p:nvPr/>
        </p:nvSpPr>
        <p:spPr>
          <a:xfrm>
            <a:off x="6134793" y="419310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dirty="0">
                <a:solidFill>
                  <a:srgbClr val="FF0000"/>
                </a:solidFill>
              </a:rPr>
              <a:t>今回の実験で使う機種</a:t>
            </a:r>
          </a:p>
        </p:txBody>
      </p:sp>
    </p:spTree>
    <p:extLst>
      <p:ext uri="{BB962C8B-B14F-4D97-AF65-F5344CB8AC3E}">
        <p14:creationId xmlns:p14="http://schemas.microsoft.com/office/powerpoint/2010/main" val="294289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6A7A59-F6C9-CF6A-3470-839C064C1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アクチュエータ端末プログラム自動生成環境</a:t>
            </a:r>
            <a:endParaRPr kumimoji="1" lang="ja-JP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D9BF3-CA42-253F-0028-04472B274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944" y="1992193"/>
            <a:ext cx="799148" cy="74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0428A3C-E083-F808-B5F2-497529D9C845}"/>
              </a:ext>
            </a:extLst>
          </p:cNvPr>
          <p:cNvSpPr txBox="1"/>
          <p:nvPr/>
        </p:nvSpPr>
        <p:spPr>
          <a:xfrm>
            <a:off x="3435314" y="176362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端末開発者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BA05D9-2C3D-9DDF-6D5F-75191B080D9D}"/>
              </a:ext>
            </a:extLst>
          </p:cNvPr>
          <p:cNvSpPr txBox="1"/>
          <p:nvPr/>
        </p:nvSpPr>
        <p:spPr>
          <a:xfrm>
            <a:off x="7054842" y="2154755"/>
            <a:ext cx="1261884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アクチュエータ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選択補助アプリ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48B5FDB-4EDA-9BDE-633B-AB1340818B13}"/>
              </a:ext>
            </a:extLst>
          </p:cNvPr>
          <p:cNvCxnSpPr>
            <a:cxnSpLocks/>
          </p:cNvCxnSpPr>
          <p:nvPr/>
        </p:nvCxnSpPr>
        <p:spPr>
          <a:xfrm flipV="1">
            <a:off x="4687734" y="2262518"/>
            <a:ext cx="2236694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582A9E8-D0A7-593A-5AA4-8E6445D8F1B4}"/>
              </a:ext>
            </a:extLst>
          </p:cNvPr>
          <p:cNvSpPr txBox="1"/>
          <p:nvPr/>
        </p:nvSpPr>
        <p:spPr>
          <a:xfrm>
            <a:off x="4962583" y="1862408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-US" altLang="ja-JP" sz="1000" dirty="0"/>
              <a:t>Arduino</a:t>
            </a:r>
            <a:r>
              <a:rPr kumimoji="1" lang="ja-JP" altLang="en-US" sz="1000" dirty="0"/>
              <a:t>機種</a:t>
            </a:r>
            <a:endParaRPr kumimoji="1" lang="en-US" altLang="ja-JP" sz="10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ja-JP" altLang="en-US" sz="1000" dirty="0"/>
              <a:t>アクチュエータの種類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B484D3D-15AD-6C57-B4DC-85FB8D4A46EB}"/>
              </a:ext>
            </a:extLst>
          </p:cNvPr>
          <p:cNvSpPr txBox="1"/>
          <p:nvPr/>
        </p:nvSpPr>
        <p:spPr>
          <a:xfrm>
            <a:off x="4816158" y="2487970"/>
            <a:ext cx="2108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000" dirty="0"/>
              <a:t>利用可能なアクチュエータの型番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158CE0D-5372-BD70-DB52-477EDF410F7E}"/>
              </a:ext>
            </a:extLst>
          </p:cNvPr>
          <p:cNvCxnSpPr>
            <a:cxnSpLocks/>
          </p:cNvCxnSpPr>
          <p:nvPr/>
        </p:nvCxnSpPr>
        <p:spPr>
          <a:xfrm flipV="1">
            <a:off x="4687733" y="2442534"/>
            <a:ext cx="2236694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A2430CC-5847-C4C2-B858-832E08813B69}"/>
              </a:ext>
            </a:extLst>
          </p:cNvPr>
          <p:cNvSpPr txBox="1"/>
          <p:nvPr/>
        </p:nvSpPr>
        <p:spPr>
          <a:xfrm>
            <a:off x="7580766" y="3553994"/>
            <a:ext cx="800219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仕様定義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アプリ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2A1C831-AFA6-63B7-582A-1D2C27834B6E}"/>
              </a:ext>
            </a:extLst>
          </p:cNvPr>
          <p:cNvSpPr/>
          <p:nvPr/>
        </p:nvSpPr>
        <p:spPr>
          <a:xfrm>
            <a:off x="4448604" y="2739346"/>
            <a:ext cx="64317" cy="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C614D77-93E2-63A2-4D64-802E585B8363}"/>
              </a:ext>
            </a:extLst>
          </p:cNvPr>
          <p:cNvSpPr/>
          <p:nvPr/>
        </p:nvSpPr>
        <p:spPr>
          <a:xfrm>
            <a:off x="7219519" y="3648664"/>
            <a:ext cx="64317" cy="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6CCD8516-5264-4416-56FA-A5CA09B9F37A}"/>
              </a:ext>
            </a:extLst>
          </p:cNvPr>
          <p:cNvCxnSpPr>
            <a:cxnSpLocks/>
            <a:stCxn id="15" idx="2"/>
            <a:endCxn id="16" idx="1"/>
          </p:cNvCxnSpPr>
          <p:nvPr/>
        </p:nvCxnSpPr>
        <p:spPr>
          <a:xfrm rot="16200000" flipH="1">
            <a:off x="5409784" y="1867533"/>
            <a:ext cx="880714" cy="2738756"/>
          </a:xfrm>
          <a:prstGeom prst="bentConnector2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C86B597-0C08-F4AF-F4A8-2DB755FD1E28}"/>
              </a:ext>
            </a:extLst>
          </p:cNvPr>
          <p:cNvSpPr txBox="1"/>
          <p:nvPr/>
        </p:nvSpPr>
        <p:spPr>
          <a:xfrm>
            <a:off x="4586193" y="2838588"/>
            <a:ext cx="263726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ja-JP" altLang="en-US" sz="1000" dirty="0"/>
              <a:t>ネットワークの情報</a:t>
            </a:r>
            <a:endParaRPr kumimoji="1" lang="en-US" altLang="ja-JP" sz="10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-US" altLang="ja-JP" sz="1000" dirty="0"/>
              <a:t>MQTT</a:t>
            </a:r>
            <a:r>
              <a:rPr kumimoji="1" lang="ja-JP" altLang="en-US" sz="1000" dirty="0"/>
              <a:t>のパラメータ</a:t>
            </a:r>
            <a:endParaRPr kumimoji="1" lang="en-US" altLang="ja-JP" sz="10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ja-JP" altLang="en-US" sz="1000" dirty="0"/>
              <a:t>ストレージを接続するか否か</a:t>
            </a:r>
            <a:endParaRPr kumimoji="1" lang="en-US" altLang="ja-JP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00" dirty="0"/>
              <a:t>アクチュエータの型番</a:t>
            </a:r>
            <a:endParaRPr kumimoji="1" lang="en-US" altLang="ja-JP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000" dirty="0"/>
              <a:t>各種デバイスと</a:t>
            </a:r>
            <a:r>
              <a:rPr kumimoji="1" lang="en-US" altLang="ja-JP" sz="1000" dirty="0"/>
              <a:t>Arduino</a:t>
            </a:r>
            <a:r>
              <a:rPr kumimoji="1" lang="ja-JP" altLang="en-US" sz="1000" dirty="0"/>
              <a:t>の接続端子情報</a:t>
            </a:r>
            <a:endParaRPr kumimoji="1" lang="en-US" altLang="ja-JP" sz="10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B02CBEE-4803-01F4-5EAB-56D2F193D7CD}"/>
              </a:ext>
            </a:extLst>
          </p:cNvPr>
          <p:cNvSpPr/>
          <p:nvPr/>
        </p:nvSpPr>
        <p:spPr>
          <a:xfrm>
            <a:off x="7227945" y="3818993"/>
            <a:ext cx="64317" cy="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BA5564B-6855-9B46-6A7F-45D0C1910A6C}"/>
              </a:ext>
            </a:extLst>
          </p:cNvPr>
          <p:cNvSpPr/>
          <p:nvPr/>
        </p:nvSpPr>
        <p:spPr>
          <a:xfrm>
            <a:off x="4305169" y="2739348"/>
            <a:ext cx="64317" cy="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7E04F86C-3ACB-64A9-3439-E8152588468B}"/>
              </a:ext>
            </a:extLst>
          </p:cNvPr>
          <p:cNvCxnSpPr>
            <a:cxnSpLocks/>
            <a:stCxn id="22" idx="1"/>
            <a:endCxn id="24" idx="2"/>
          </p:cNvCxnSpPr>
          <p:nvPr/>
        </p:nvCxnSpPr>
        <p:spPr>
          <a:xfrm rot="10800000">
            <a:off x="4337329" y="2796557"/>
            <a:ext cx="2890617" cy="1051041"/>
          </a:xfrm>
          <a:prstGeom prst="bentConnector2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89D5A3E-9ECA-A393-9B2C-A2A9D1E3FB2F}"/>
              </a:ext>
            </a:extLst>
          </p:cNvPr>
          <p:cNvSpPr txBox="1"/>
          <p:nvPr/>
        </p:nvSpPr>
        <p:spPr>
          <a:xfrm>
            <a:off x="4728502" y="3876201"/>
            <a:ext cx="19239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000" dirty="0"/>
              <a:t>仕様定義ファイル</a:t>
            </a:r>
            <a:r>
              <a:rPr kumimoji="1" lang="en-US" altLang="ja-JP" sz="1000" dirty="0"/>
              <a:t>(YAML</a:t>
            </a:r>
            <a:r>
              <a:rPr kumimoji="1" lang="ja-JP" altLang="en-US" sz="1000" dirty="0"/>
              <a:t>形式</a:t>
            </a:r>
            <a:r>
              <a:rPr kumimoji="1" lang="en-US" altLang="ja-JP" sz="1000" dirty="0"/>
              <a:t>)</a:t>
            </a:r>
            <a:endParaRPr kumimoji="1" lang="ja-JP" altLang="en-US" sz="10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D37F721-0B4E-B969-4D91-E80B254B61EA}"/>
              </a:ext>
            </a:extLst>
          </p:cNvPr>
          <p:cNvSpPr txBox="1"/>
          <p:nvPr/>
        </p:nvSpPr>
        <p:spPr>
          <a:xfrm>
            <a:off x="3088272" y="4281500"/>
            <a:ext cx="1107996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仕様チェック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アプリ</a:t>
            </a:r>
            <a:endParaRPr kumimoji="1" lang="en-US" altLang="ja-JP" sz="1200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31124FF-E1DF-F21A-B710-92D352C3626E}"/>
              </a:ext>
            </a:extLst>
          </p:cNvPr>
          <p:cNvSpPr/>
          <p:nvPr/>
        </p:nvSpPr>
        <p:spPr>
          <a:xfrm>
            <a:off x="3659712" y="4110949"/>
            <a:ext cx="64317" cy="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2D3A330-1EBB-F3E6-E5C7-A928431EF181}"/>
              </a:ext>
            </a:extLst>
          </p:cNvPr>
          <p:cNvSpPr/>
          <p:nvPr/>
        </p:nvSpPr>
        <p:spPr>
          <a:xfrm>
            <a:off x="3516277" y="4110951"/>
            <a:ext cx="64317" cy="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52AAC45-DFDB-96CA-8D41-020B4B1EA34D}"/>
              </a:ext>
            </a:extLst>
          </p:cNvPr>
          <p:cNvSpPr/>
          <p:nvPr/>
        </p:nvSpPr>
        <p:spPr>
          <a:xfrm>
            <a:off x="3659716" y="2757286"/>
            <a:ext cx="64317" cy="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113D048-3A45-A4EF-5A7F-E97AD515FAA9}"/>
              </a:ext>
            </a:extLst>
          </p:cNvPr>
          <p:cNvSpPr/>
          <p:nvPr/>
        </p:nvSpPr>
        <p:spPr>
          <a:xfrm>
            <a:off x="3516281" y="2757288"/>
            <a:ext cx="64317" cy="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9F00BC14-A1F5-F918-46E5-BDEE95E0E967}"/>
              </a:ext>
            </a:extLst>
          </p:cNvPr>
          <p:cNvCxnSpPr>
            <a:stCxn id="33" idx="2"/>
            <a:endCxn id="31" idx="0"/>
          </p:cNvCxnSpPr>
          <p:nvPr/>
        </p:nvCxnSpPr>
        <p:spPr>
          <a:xfrm flipH="1">
            <a:off x="3691871" y="2814494"/>
            <a:ext cx="4" cy="1296455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68A1E340-D97D-D4DC-7E67-68D8002C9C0B}"/>
              </a:ext>
            </a:extLst>
          </p:cNvPr>
          <p:cNvCxnSpPr>
            <a:stCxn id="32" idx="0"/>
            <a:endCxn id="34" idx="2"/>
          </p:cNvCxnSpPr>
          <p:nvPr/>
        </p:nvCxnSpPr>
        <p:spPr>
          <a:xfrm flipV="1">
            <a:off x="3548436" y="2814496"/>
            <a:ext cx="4" cy="1296455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519A5C5-2431-9B8C-F9BD-BA8B2D0D4DFF}"/>
              </a:ext>
            </a:extLst>
          </p:cNvPr>
          <p:cNvSpPr txBox="1"/>
          <p:nvPr/>
        </p:nvSpPr>
        <p:spPr>
          <a:xfrm>
            <a:off x="3642270" y="2887837"/>
            <a:ext cx="338554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kumimoji="1" lang="ja-JP" altLang="en-US" sz="1000" dirty="0"/>
              <a:t>仕様定義ファイル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D7AC441-0D07-4CFD-067C-BFF22D94BDD1}"/>
              </a:ext>
            </a:extLst>
          </p:cNvPr>
          <p:cNvSpPr txBox="1"/>
          <p:nvPr/>
        </p:nvSpPr>
        <p:spPr>
          <a:xfrm>
            <a:off x="3239400" y="3031836"/>
            <a:ext cx="338554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kumimoji="1" lang="ja-JP" altLang="en-US" sz="1000" dirty="0"/>
              <a:t>チェック結果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E7D4BB7-01BB-B1A9-C556-13EF72C41A39}"/>
              </a:ext>
            </a:extLst>
          </p:cNvPr>
          <p:cNvSpPr txBox="1"/>
          <p:nvPr/>
        </p:nvSpPr>
        <p:spPr>
          <a:xfrm>
            <a:off x="893732" y="2257137"/>
            <a:ext cx="1261885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端末プログラム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生成アプリ</a:t>
            </a:r>
            <a:endParaRPr kumimoji="1" lang="en-US" altLang="ja-JP" sz="1200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E8925F80-0163-0821-28F9-580A5B2A09FD}"/>
              </a:ext>
            </a:extLst>
          </p:cNvPr>
          <p:cNvCxnSpPr/>
          <p:nvPr/>
        </p:nvCxnSpPr>
        <p:spPr>
          <a:xfrm flipH="1">
            <a:off x="2168652" y="2487970"/>
            <a:ext cx="1308847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DF15898-FCA4-90C0-1764-5A96FFE07234}"/>
              </a:ext>
            </a:extLst>
          </p:cNvPr>
          <p:cNvSpPr txBox="1"/>
          <p:nvPr/>
        </p:nvSpPr>
        <p:spPr>
          <a:xfrm>
            <a:off x="2223941" y="2215967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000" dirty="0"/>
              <a:t>仕様定義ファイル</a:t>
            </a:r>
          </a:p>
        </p:txBody>
      </p:sp>
      <p:pic>
        <p:nvPicPr>
          <p:cNvPr id="45" name="図 44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3D79F87F-7488-7ED8-C821-CDD79334C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69" y="3335527"/>
            <a:ext cx="633730" cy="436934"/>
          </a:xfrm>
          <a:prstGeom prst="rect">
            <a:avLst/>
          </a:prstGeom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18DC213-31BB-DC24-E3B6-A164EDD8A500}"/>
              </a:ext>
            </a:extLst>
          </p:cNvPr>
          <p:cNvSpPr txBox="1"/>
          <p:nvPr/>
        </p:nvSpPr>
        <p:spPr>
          <a:xfrm>
            <a:off x="776997" y="297133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000" dirty="0"/>
              <a:t>Arduino</a:t>
            </a:r>
          </a:p>
          <a:p>
            <a:pPr algn="ctr"/>
            <a:r>
              <a:rPr kumimoji="1" lang="ja-JP" altLang="en-US" sz="1000" dirty="0"/>
              <a:t>スケッチ</a:t>
            </a:r>
          </a:p>
        </p:txBody>
      </p:sp>
      <p:pic>
        <p:nvPicPr>
          <p:cNvPr id="47" name="Picture 8">
            <a:extLst>
              <a:ext uri="{FF2B5EF4-FFF2-40B4-BE49-F238E27FC236}">
                <a16:creationId xmlns:a16="http://schemas.microsoft.com/office/drawing/2014/main" id="{656334BD-A703-1D6D-8015-32C86ACBB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786" y="4193924"/>
            <a:ext cx="606552" cy="60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40E3B40A-6DF0-1206-2D30-58B3C3961CAD}"/>
              </a:ext>
            </a:extLst>
          </p:cNvPr>
          <p:cNvSpPr txBox="1"/>
          <p:nvPr/>
        </p:nvSpPr>
        <p:spPr>
          <a:xfrm>
            <a:off x="1165212" y="4759172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100" dirty="0"/>
              <a:t>Arduino</a:t>
            </a:r>
            <a:endParaRPr kumimoji="1" lang="ja-JP" altLang="en-US" sz="1100" dirty="0"/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D9BB0A59-4620-F4EE-D721-099D8A344168}"/>
              </a:ext>
            </a:extLst>
          </p:cNvPr>
          <p:cNvCxnSpPr>
            <a:stCxn id="41" idx="2"/>
            <a:endCxn id="47" idx="0"/>
          </p:cNvCxnSpPr>
          <p:nvPr/>
        </p:nvCxnSpPr>
        <p:spPr>
          <a:xfrm>
            <a:off x="1524675" y="2718802"/>
            <a:ext cx="1387" cy="1475122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吹き出し: 四角形 51">
            <a:extLst>
              <a:ext uri="{FF2B5EF4-FFF2-40B4-BE49-F238E27FC236}">
                <a16:creationId xmlns:a16="http://schemas.microsoft.com/office/drawing/2014/main" id="{CFE9C8B4-9B1F-1B8C-8CD4-2E964E6EAA12}"/>
              </a:ext>
            </a:extLst>
          </p:cNvPr>
          <p:cNvSpPr/>
          <p:nvPr/>
        </p:nvSpPr>
        <p:spPr>
          <a:xfrm>
            <a:off x="4380939" y="4357807"/>
            <a:ext cx="1423835" cy="690212"/>
          </a:xfrm>
          <a:prstGeom prst="wedgeRectCallout">
            <a:avLst>
              <a:gd name="adj1" fmla="val -67557"/>
              <a:gd name="adj2" fmla="val -41944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F611FCC3-10E1-4120-A39D-134E4E92B103}"/>
              </a:ext>
            </a:extLst>
          </p:cNvPr>
          <p:cNvSpPr txBox="1"/>
          <p:nvPr/>
        </p:nvSpPr>
        <p:spPr>
          <a:xfrm>
            <a:off x="4408238" y="4546560"/>
            <a:ext cx="139653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ja-JP" altLang="en-US" sz="900" dirty="0"/>
              <a:t>ソフトウェア互換性</a:t>
            </a:r>
            <a:endParaRPr kumimoji="1" lang="en-US" altLang="ja-JP" sz="9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ja-JP" altLang="en-US" sz="900" dirty="0"/>
              <a:t>動作電圧の合致</a:t>
            </a:r>
            <a:endParaRPr kumimoji="1" lang="en-US" altLang="ja-JP" sz="9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ja-JP" altLang="en-US" sz="900" dirty="0"/>
              <a:t>ピンの重複利用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10E35ECF-B755-8995-096A-0E63B800C1F6}"/>
              </a:ext>
            </a:extLst>
          </p:cNvPr>
          <p:cNvSpPr txBox="1"/>
          <p:nvPr/>
        </p:nvSpPr>
        <p:spPr>
          <a:xfrm>
            <a:off x="4353640" y="4376227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100" b="1" dirty="0"/>
              <a:t>チェック内容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44EBAC-B5EE-A4E1-DCE3-97498374B40A}"/>
              </a:ext>
            </a:extLst>
          </p:cNvPr>
          <p:cNvSpPr txBox="1"/>
          <p:nvPr/>
        </p:nvSpPr>
        <p:spPr>
          <a:xfrm>
            <a:off x="2223941" y="1306622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000" dirty="0"/>
              <a:t>仕様定義ファイル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FDE430-A009-05A6-414A-C9B68528E9E9}"/>
              </a:ext>
            </a:extLst>
          </p:cNvPr>
          <p:cNvSpPr txBox="1"/>
          <p:nvPr/>
        </p:nvSpPr>
        <p:spPr>
          <a:xfrm>
            <a:off x="719998" y="1019057"/>
            <a:ext cx="1261884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組み合わせ手順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表示アプリ</a:t>
            </a: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0A5A3363-4F27-D4D9-AF2F-16A6FF163F23}"/>
              </a:ext>
            </a:extLst>
          </p:cNvPr>
          <p:cNvCxnSpPr>
            <a:cxnSpLocks/>
          </p:cNvCxnSpPr>
          <p:nvPr/>
        </p:nvCxnSpPr>
        <p:spPr>
          <a:xfrm>
            <a:off x="2123029" y="1192682"/>
            <a:ext cx="1930486" cy="513735"/>
          </a:xfrm>
          <a:prstGeom prst="bentConnector2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50EE8527-1807-ACF7-7ECB-76074F16DF47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007215" y="1292590"/>
            <a:ext cx="1905153" cy="471035"/>
          </a:xfrm>
          <a:prstGeom prst="bentConnector2">
            <a:avLst/>
          </a:prstGeom>
          <a:ln w="9525"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C4607C0-A528-6BFB-A6FA-98649BBE5249}"/>
              </a:ext>
            </a:extLst>
          </p:cNvPr>
          <p:cNvSpPr txBox="1"/>
          <p:nvPr/>
        </p:nvSpPr>
        <p:spPr>
          <a:xfrm>
            <a:off x="2634106" y="971855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000" dirty="0"/>
              <a:t>組み立て手順書</a:t>
            </a:r>
          </a:p>
        </p:txBody>
      </p:sp>
    </p:spTree>
    <p:extLst>
      <p:ext uri="{BB962C8B-B14F-4D97-AF65-F5344CB8AC3E}">
        <p14:creationId xmlns:p14="http://schemas.microsoft.com/office/powerpoint/2010/main" val="1432369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7B9B6-746C-8299-7110-008B7497A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876324"/>
      </p:ext>
    </p:extLst>
  </p:cSld>
  <p:clrMapOvr>
    <a:masterClrMapping/>
  </p:clrMapOvr>
</p:sld>
</file>

<file path=ppt/theme/theme1.xml><?xml version="1.0" encoding="utf-8"?>
<a:theme xmlns:a="http://schemas.openxmlformats.org/drawingml/2006/main" name="デジタルリテラシ">
  <a:themeElements>
    <a:clrScheme name="F_Tool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EA0000"/>
      </a:accent1>
      <a:accent2>
        <a:srgbClr val="FF8000"/>
      </a:accent2>
      <a:accent3>
        <a:srgbClr val="D80084"/>
      </a:accent3>
      <a:accent4>
        <a:srgbClr val="2400B0"/>
      </a:accent4>
      <a:accent5>
        <a:srgbClr val="61D600"/>
      </a:accent5>
      <a:accent6>
        <a:srgbClr val="008224"/>
      </a:accent6>
      <a:hlink>
        <a:srgbClr val="0563C1"/>
      </a:hlink>
      <a:folHlink>
        <a:srgbClr val="954F72"/>
      </a:folHlink>
    </a:clrScheme>
    <a:fontScheme name="F_Tool_JP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kumimoji="1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89D5AA51-82D9-46A9-B088-81940A62FD39}" vid="{9DA0BA57-D874-448D-82DD-D6F8E40BAE5A}"/>
    </a:ext>
  </a:extLst>
</a:theme>
</file>

<file path=ppt/theme/theme2.xml><?xml version="1.0" encoding="utf-8"?>
<a:theme xmlns:a="http://schemas.openxmlformats.org/drawingml/2006/main" name="Office テーマ">
  <a:themeElements>
    <a:clrScheme name="F_Tool_8_EN">
      <a:dk1>
        <a:srgbClr val="000000"/>
      </a:dk1>
      <a:lt1>
        <a:sysClr val="window" lastClr="FFFFFF"/>
      </a:lt1>
      <a:dk2>
        <a:srgbClr val="D51C89"/>
      </a:dk2>
      <a:lt2>
        <a:srgbClr val="E60000"/>
      </a:lt2>
      <a:accent1>
        <a:srgbClr val="1813B1"/>
      </a:accent1>
      <a:accent2>
        <a:srgbClr val="00ECF4"/>
      </a:accent2>
      <a:accent3>
        <a:srgbClr val="75D700"/>
      </a:accent3>
      <a:accent4>
        <a:srgbClr val="00812F"/>
      </a:accent4>
      <a:accent5>
        <a:srgbClr val="FFE800"/>
      </a:accent5>
      <a:accent6>
        <a:srgbClr val="FF8100"/>
      </a:accent6>
      <a:hlink>
        <a:srgbClr val="0563C1"/>
      </a:hlink>
      <a:folHlink>
        <a:srgbClr val="954F72"/>
      </a:folHlink>
    </a:clrScheme>
    <a:fontScheme name="F_Tool_8_EN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F_Tool_8_EN">
      <a:dk1>
        <a:srgbClr val="000000"/>
      </a:dk1>
      <a:lt1>
        <a:sysClr val="window" lastClr="FFFFFF"/>
      </a:lt1>
      <a:dk2>
        <a:srgbClr val="D51C89"/>
      </a:dk2>
      <a:lt2>
        <a:srgbClr val="E60000"/>
      </a:lt2>
      <a:accent1>
        <a:srgbClr val="1813B1"/>
      </a:accent1>
      <a:accent2>
        <a:srgbClr val="00ECF4"/>
      </a:accent2>
      <a:accent3>
        <a:srgbClr val="75D700"/>
      </a:accent3>
      <a:accent4>
        <a:srgbClr val="00812F"/>
      </a:accent4>
      <a:accent5>
        <a:srgbClr val="FFE800"/>
      </a:accent5>
      <a:accent6>
        <a:srgbClr val="FF8100"/>
      </a:accent6>
      <a:hlink>
        <a:srgbClr val="0563C1"/>
      </a:hlink>
      <a:folHlink>
        <a:srgbClr val="954F72"/>
      </a:folHlink>
    </a:clrScheme>
    <a:fontScheme name="F_Tool_8_EN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個人</Template>
  <TotalTime>656</TotalTime>
  <Words>435</Words>
  <Application>Microsoft Office PowerPoint</Application>
  <PresentationFormat>画面に合わせる (16:9)</PresentationFormat>
  <Paragraphs>122</Paragraphs>
  <Slides>7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-apple-system</vt:lpstr>
      <vt:lpstr>メイリオ</vt:lpstr>
      <vt:lpstr>Arial</vt:lpstr>
      <vt:lpstr>Times New Roman</vt:lpstr>
      <vt:lpstr>Wingdings</vt:lpstr>
      <vt:lpstr>デジタルリテラシ</vt:lpstr>
      <vt:lpstr>IoTアクチュエータ端末プログラム自動生成環境</vt:lpstr>
      <vt:lpstr>対象とするIoTシステム</vt:lpstr>
      <vt:lpstr>現在の問題</vt:lpstr>
      <vt:lpstr>IoT端末プログラム自動生成環境の目的</vt:lpstr>
      <vt:lpstr>できあがる端末</vt:lpstr>
      <vt:lpstr>アクチュエータ端末プログラム自動生成環境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野呂　正明</dc:creator>
  <cp:lastModifiedBy>り ぶ</cp:lastModifiedBy>
  <cp:revision>1</cp:revision>
  <cp:lastPrinted>2022-11-21T08:07:27Z</cp:lastPrinted>
  <dcterms:created xsi:type="dcterms:W3CDTF">2023-12-11T02:17:30Z</dcterms:created>
  <dcterms:modified xsi:type="dcterms:W3CDTF">2026-06-25T05:29:20Z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295cc1-d279-42ac-ab4d-3b0f4fece050_Enabled">
    <vt:lpwstr>true</vt:lpwstr>
  </property>
  <property fmtid="{D5CDD505-2E9C-101B-9397-08002B2CF9AE}" pid="3" name="MSIP_Label_a7295cc1-d279-42ac-ab4d-3b0f4fece050_SetDate">
    <vt:lpwstr>2021-10-28T00:05:04Z</vt:lpwstr>
  </property>
  <property fmtid="{D5CDD505-2E9C-101B-9397-08002B2CF9AE}" pid="4" name="MSIP_Label_a7295cc1-d279-42ac-ab4d-3b0f4fece050_Method">
    <vt:lpwstr>Standard</vt:lpwstr>
  </property>
  <property fmtid="{D5CDD505-2E9C-101B-9397-08002B2CF9AE}" pid="5" name="MSIP_Label_a7295cc1-d279-42ac-ab4d-3b0f4fece050_Name">
    <vt:lpwstr>FUJITSU-RESTRICTED​</vt:lpwstr>
  </property>
  <property fmtid="{D5CDD505-2E9C-101B-9397-08002B2CF9AE}" pid="6" name="MSIP_Label_a7295cc1-d279-42ac-ab4d-3b0f4fece050_SiteId">
    <vt:lpwstr>a19f121d-81e1-4858-a9d8-736e267fd4c7</vt:lpwstr>
  </property>
  <property fmtid="{D5CDD505-2E9C-101B-9397-08002B2CF9AE}" pid="7" name="MSIP_Label_a7295cc1-d279-42ac-ab4d-3b0f4fece050_ActionId">
    <vt:lpwstr>2213c45c-f659-4547-b6fb-40f3bd2d3676</vt:lpwstr>
  </property>
  <property fmtid="{D5CDD505-2E9C-101B-9397-08002B2CF9AE}" pid="8" name="MSIP_Label_a7295cc1-d279-42ac-ab4d-3b0f4fece050_ContentBits">
    <vt:lpwstr>0</vt:lpwstr>
  </property>
</Properties>
</file>