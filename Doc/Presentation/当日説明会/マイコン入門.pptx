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7" r:id="rId1"/>
  </p:sldMasterIdLst>
  <p:notesMasterIdLst>
    <p:notesMasterId r:id="rId24"/>
  </p:notesMasterIdLst>
  <p:handoutMasterIdLst>
    <p:handoutMasterId r:id="rId25"/>
  </p:handoutMasterIdLst>
  <p:sldIdLst>
    <p:sldId id="380" r:id="rId2"/>
    <p:sldId id="509" r:id="rId3"/>
    <p:sldId id="511" r:id="rId4"/>
    <p:sldId id="512" r:id="rId5"/>
    <p:sldId id="513" r:id="rId6"/>
    <p:sldId id="544" r:id="rId7"/>
    <p:sldId id="518" r:id="rId8"/>
    <p:sldId id="519" r:id="rId9"/>
    <p:sldId id="517" r:id="rId10"/>
    <p:sldId id="520" r:id="rId11"/>
    <p:sldId id="522" r:id="rId12"/>
    <p:sldId id="523" r:id="rId13"/>
    <p:sldId id="543" r:id="rId14"/>
    <p:sldId id="545" r:id="rId15"/>
    <p:sldId id="539" r:id="rId16"/>
    <p:sldId id="556" r:id="rId17"/>
    <p:sldId id="557" r:id="rId18"/>
    <p:sldId id="541" r:id="rId19"/>
    <p:sldId id="542" r:id="rId20"/>
    <p:sldId id="546" r:id="rId21"/>
    <p:sldId id="555" r:id="rId22"/>
    <p:sldId id="401" r:id="rId23"/>
  </p:sldIdLst>
  <p:sldSz cx="9144000" cy="5143500" type="screen16x9"/>
  <p:notesSz cx="6742113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3" pos="5602" userDrawn="1">
          <p15:clr>
            <a:srgbClr val="A4A3A4"/>
          </p15:clr>
        </p15:guide>
        <p15:guide id="4" orient="horz" pos="395" userDrawn="1">
          <p15:clr>
            <a:srgbClr val="A4A3A4"/>
          </p15:clr>
        </p15:guide>
        <p15:guide id="5" orient="horz" pos="2981" userDrawn="1">
          <p15:clr>
            <a:srgbClr val="A4A3A4"/>
          </p15:clr>
        </p15:guide>
        <p15:guide id="6" pos="29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FFF"/>
    <a:srgbClr val="FFFFE5"/>
    <a:srgbClr val="FFCC00"/>
    <a:srgbClr val="FFE1FF"/>
    <a:srgbClr val="00E7EF"/>
    <a:srgbClr val="FFFFCC"/>
    <a:srgbClr val="FFE700"/>
    <a:srgbClr val="FFFFFF"/>
    <a:srgbClr val="000000"/>
    <a:srgbClr val="E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6629D3-4EF0-425E-A801-B4D65D6EE785}" v="4" dt="2026-06-25T05:31:04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8" autoAdjust="0"/>
    <p:restoredTop sz="81742" autoAdjust="0"/>
  </p:normalViewPr>
  <p:slideViewPr>
    <p:cSldViewPr snapToGrid="0">
      <p:cViewPr varScale="1">
        <p:scale>
          <a:sx n="115" d="100"/>
          <a:sy n="115" d="100"/>
        </p:scale>
        <p:origin x="84" y="376"/>
      </p:cViewPr>
      <p:guideLst>
        <p:guide orient="horz" pos="1620"/>
        <p:guide pos="5602"/>
        <p:guide orient="horz" pos="395"/>
        <p:guide orient="horz" pos="2981"/>
        <p:guide pos="29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3452" y="2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り ぶ" userId="e79b0678f96bfbc0" providerId="LiveId" clId="{AAEDD26B-EFCD-460D-8863-543060308144}"/>
    <pc:docChg chg="undo custSel addSld delSld modSld sldOrd">
      <pc:chgData name="り ぶ" userId="e79b0678f96bfbc0" providerId="LiveId" clId="{AAEDD26B-EFCD-460D-8863-543060308144}" dt="2026-06-25T05:31:12.181" v="987" actId="1076"/>
      <pc:docMkLst>
        <pc:docMk/>
      </pc:docMkLst>
      <pc:sldChg chg="addSp delSp modSp mod">
        <pc:chgData name="り ぶ" userId="e79b0678f96bfbc0" providerId="LiveId" clId="{AAEDD26B-EFCD-460D-8863-543060308144}" dt="2026-06-11T08:50:42.885" v="757" actId="478"/>
        <pc:sldMkLst>
          <pc:docMk/>
          <pc:sldMk cId="3149769201" sldId="509"/>
        </pc:sldMkLst>
        <pc:spChg chg="mod">
          <ac:chgData name="り ぶ" userId="e79b0678f96bfbc0" providerId="LiveId" clId="{AAEDD26B-EFCD-460D-8863-543060308144}" dt="2026-06-11T08:50:10.055" v="739"/>
          <ac:spMkLst>
            <pc:docMk/>
            <pc:sldMk cId="3149769201" sldId="509"/>
            <ac:spMk id="12" creationId="{32610AF8-DE18-B40A-C493-193DFEA59172}"/>
          </ac:spMkLst>
        </pc:spChg>
        <pc:spChg chg="mod">
          <ac:chgData name="り ぶ" userId="e79b0678f96bfbc0" providerId="LiveId" clId="{AAEDD26B-EFCD-460D-8863-543060308144}" dt="2026-06-11T08:50:32.093" v="753" actId="1076"/>
          <ac:spMkLst>
            <pc:docMk/>
            <pc:sldMk cId="3149769201" sldId="509"/>
            <ac:spMk id="13" creationId="{0027D895-56F3-2E5C-A90B-52EE5BBF0D24}"/>
          </ac:spMkLst>
        </pc:spChg>
        <pc:spChg chg="mod">
          <ac:chgData name="り ぶ" userId="e79b0678f96bfbc0" providerId="LiveId" clId="{AAEDD26B-EFCD-460D-8863-543060308144}" dt="2026-06-11T08:49:34.701" v="722"/>
          <ac:spMkLst>
            <pc:docMk/>
            <pc:sldMk cId="3149769201" sldId="509"/>
            <ac:spMk id="17" creationId="{3A4BD714-3A07-FDE4-1C64-C0C4F4AAD1AD}"/>
          </ac:spMkLst>
        </pc:spChg>
        <pc:spChg chg="mod">
          <ac:chgData name="り ぶ" userId="e79b0678f96bfbc0" providerId="LiveId" clId="{AAEDD26B-EFCD-460D-8863-543060308144}" dt="2026-06-11T08:50:02.065" v="734"/>
          <ac:spMkLst>
            <pc:docMk/>
            <pc:sldMk cId="3149769201" sldId="509"/>
            <ac:spMk id="25" creationId="{5E1AD909-D800-E004-1F13-41D77C28E368}"/>
          </ac:spMkLst>
        </pc:spChg>
        <pc:spChg chg="mod">
          <ac:chgData name="り ぶ" userId="e79b0678f96bfbc0" providerId="LiveId" clId="{AAEDD26B-EFCD-460D-8863-543060308144}" dt="2026-06-11T08:50:34.514" v="756" actId="20577"/>
          <ac:spMkLst>
            <pc:docMk/>
            <pc:sldMk cId="3149769201" sldId="509"/>
            <ac:spMk id="28" creationId="{1C3A1BDB-9D86-94DE-94B5-82BF601AC30A}"/>
          </ac:spMkLst>
        </pc:spChg>
        <pc:spChg chg="add mod">
          <ac:chgData name="り ぶ" userId="e79b0678f96bfbc0" providerId="LiveId" clId="{AAEDD26B-EFCD-460D-8863-543060308144}" dt="2026-06-11T08:49:38.682" v="723" actId="1076"/>
          <ac:spMkLst>
            <pc:docMk/>
            <pc:sldMk cId="3149769201" sldId="509"/>
            <ac:spMk id="39" creationId="{3DECA945-14C8-0A11-807D-20EE11FB5DBF}"/>
          </ac:spMkLst>
        </pc:spChg>
        <pc:cxnChg chg="add mod">
          <ac:chgData name="り ぶ" userId="e79b0678f96bfbc0" providerId="LiveId" clId="{AAEDD26B-EFCD-460D-8863-543060308144}" dt="2026-06-11T08:49:43.979" v="724" actId="14100"/>
          <ac:cxnSpMkLst>
            <pc:docMk/>
            <pc:sldMk cId="3149769201" sldId="509"/>
            <ac:cxnSpMk id="21" creationId="{04A46D0E-B567-3E79-6841-3B181A28073B}"/>
          </ac:cxnSpMkLst>
        </pc:cxnChg>
      </pc:sldChg>
      <pc:sldChg chg="modSp mod">
        <pc:chgData name="り ぶ" userId="e79b0678f96bfbc0" providerId="LiveId" clId="{AAEDD26B-EFCD-460D-8863-543060308144}" dt="2026-06-11T08:57:24.030" v="896" actId="20577"/>
        <pc:sldMkLst>
          <pc:docMk/>
          <pc:sldMk cId="10305898" sldId="517"/>
        </pc:sldMkLst>
        <pc:spChg chg="mod">
          <ac:chgData name="り ぶ" userId="e79b0678f96bfbc0" providerId="LiveId" clId="{AAEDD26B-EFCD-460D-8863-543060308144}" dt="2026-06-11T08:57:24.030" v="896" actId="20577"/>
          <ac:spMkLst>
            <pc:docMk/>
            <pc:sldMk cId="10305898" sldId="517"/>
            <ac:spMk id="2" creationId="{247274BD-6DEE-5447-1914-24792C9D24AB}"/>
          </ac:spMkLst>
        </pc:spChg>
      </pc:sldChg>
      <pc:sldChg chg="addSp modSp mod">
        <pc:chgData name="り ぶ" userId="e79b0678f96bfbc0" providerId="LiveId" clId="{AAEDD26B-EFCD-460D-8863-543060308144}" dt="2026-06-25T05:31:12.181" v="987" actId="1076"/>
        <pc:sldMkLst>
          <pc:docMk/>
          <pc:sldMk cId="714215342" sldId="518"/>
        </pc:sldMkLst>
        <pc:spChg chg="add mod">
          <ac:chgData name="り ぶ" userId="e79b0678f96bfbc0" providerId="LiveId" clId="{AAEDD26B-EFCD-460D-8863-543060308144}" dt="2026-06-25T05:30:50.469" v="950" actId="692"/>
          <ac:spMkLst>
            <pc:docMk/>
            <pc:sldMk cId="714215342" sldId="518"/>
            <ac:spMk id="5" creationId="{97D33965-9C1C-5AE9-7369-E79756E7B104}"/>
          </ac:spMkLst>
        </pc:spChg>
        <pc:spChg chg="add mod">
          <ac:chgData name="り ぶ" userId="e79b0678f96bfbc0" providerId="LiveId" clId="{AAEDD26B-EFCD-460D-8863-543060308144}" dt="2026-06-25T05:31:12.181" v="987" actId="1076"/>
          <ac:spMkLst>
            <pc:docMk/>
            <pc:sldMk cId="714215342" sldId="518"/>
            <ac:spMk id="6" creationId="{27893C6D-1E40-1AD2-C4AA-C9D4CE5A5C87}"/>
          </ac:spMkLst>
        </pc:spChg>
        <pc:graphicFrameChg chg="mod modGraphic">
          <ac:chgData name="り ぶ" userId="e79b0678f96bfbc0" providerId="LiveId" clId="{AAEDD26B-EFCD-460D-8863-543060308144}" dt="2026-06-11T08:52:34.870" v="785" actId="14734"/>
          <ac:graphicFrameMkLst>
            <pc:docMk/>
            <pc:sldMk cId="714215342" sldId="518"/>
            <ac:graphicFrameMk id="3" creationId="{9D4AEC27-2315-0204-73F8-6A2FE14E55AF}"/>
          </ac:graphicFrameMkLst>
        </pc:graphicFrameChg>
      </pc:sldChg>
      <pc:sldChg chg="modSp mod">
        <pc:chgData name="り ぶ" userId="e79b0678f96bfbc0" providerId="LiveId" clId="{AAEDD26B-EFCD-460D-8863-543060308144}" dt="2026-06-11T08:57:30.505" v="897" actId="20577"/>
        <pc:sldMkLst>
          <pc:docMk/>
          <pc:sldMk cId="2531380792" sldId="520"/>
        </pc:sldMkLst>
        <pc:spChg chg="mod">
          <ac:chgData name="り ぶ" userId="e79b0678f96bfbc0" providerId="LiveId" clId="{AAEDD26B-EFCD-460D-8863-543060308144}" dt="2026-06-11T08:57:30.505" v="897" actId="20577"/>
          <ac:spMkLst>
            <pc:docMk/>
            <pc:sldMk cId="2531380792" sldId="520"/>
            <ac:spMk id="2" creationId="{3145145C-0051-CB5A-B279-E55726BE31EF}"/>
          </ac:spMkLst>
        </pc:spChg>
      </pc:sldChg>
      <pc:sldChg chg="modSp mod">
        <pc:chgData name="り ぶ" userId="e79b0678f96bfbc0" providerId="LiveId" clId="{AAEDD26B-EFCD-460D-8863-543060308144}" dt="2026-06-11T08:57:58.577" v="901" actId="1076"/>
        <pc:sldMkLst>
          <pc:docMk/>
          <pc:sldMk cId="1703072708" sldId="522"/>
        </pc:sldMkLst>
        <pc:spChg chg="mod">
          <ac:chgData name="り ぶ" userId="e79b0678f96bfbc0" providerId="LiveId" clId="{AAEDD26B-EFCD-460D-8863-543060308144}" dt="2026-06-11T08:57:35.090" v="898" actId="20577"/>
          <ac:spMkLst>
            <pc:docMk/>
            <pc:sldMk cId="1703072708" sldId="522"/>
            <ac:spMk id="2" creationId="{0C21FDCF-10D0-F66E-9241-6FAEE7AFE940}"/>
          </ac:spMkLst>
        </pc:spChg>
        <pc:spChg chg="mod">
          <ac:chgData name="り ぶ" userId="e79b0678f96bfbc0" providerId="LiveId" clId="{AAEDD26B-EFCD-460D-8863-543060308144}" dt="2026-06-11T08:57:58.577" v="901" actId="1076"/>
          <ac:spMkLst>
            <pc:docMk/>
            <pc:sldMk cId="1703072708" sldId="522"/>
            <ac:spMk id="6" creationId="{9A50393E-0718-6904-3531-4BF74F9CD2EB}"/>
          </ac:spMkLst>
        </pc:spChg>
        <pc:spChg chg="mod">
          <ac:chgData name="り ぶ" userId="e79b0678f96bfbc0" providerId="LiveId" clId="{AAEDD26B-EFCD-460D-8863-543060308144}" dt="2026-06-11T08:57:58.577" v="901" actId="1076"/>
          <ac:spMkLst>
            <pc:docMk/>
            <pc:sldMk cId="1703072708" sldId="522"/>
            <ac:spMk id="7" creationId="{8A20CF98-5722-5618-097A-9D239DC19B74}"/>
          </ac:spMkLst>
        </pc:spChg>
        <pc:spChg chg="mod">
          <ac:chgData name="り ぶ" userId="e79b0678f96bfbc0" providerId="LiveId" clId="{AAEDD26B-EFCD-460D-8863-543060308144}" dt="2026-06-11T08:57:58.577" v="901" actId="1076"/>
          <ac:spMkLst>
            <pc:docMk/>
            <pc:sldMk cId="1703072708" sldId="522"/>
            <ac:spMk id="8" creationId="{821C0EE3-E1A4-D97A-1549-404B77D28D1B}"/>
          </ac:spMkLst>
        </pc:spChg>
        <pc:spChg chg="mod">
          <ac:chgData name="り ぶ" userId="e79b0678f96bfbc0" providerId="LiveId" clId="{AAEDD26B-EFCD-460D-8863-543060308144}" dt="2026-06-11T08:57:51.481" v="900" actId="27636"/>
          <ac:spMkLst>
            <pc:docMk/>
            <pc:sldMk cId="1703072708" sldId="522"/>
            <ac:spMk id="9" creationId="{65F9255B-B11F-3A63-C9EA-7E0F46F3E1C2}"/>
          </ac:spMkLst>
        </pc:spChg>
        <pc:picChg chg="mod">
          <ac:chgData name="り ぶ" userId="e79b0678f96bfbc0" providerId="LiveId" clId="{AAEDD26B-EFCD-460D-8863-543060308144}" dt="2026-06-11T08:57:58.577" v="901" actId="1076"/>
          <ac:picMkLst>
            <pc:docMk/>
            <pc:sldMk cId="1703072708" sldId="522"/>
            <ac:picMk id="3" creationId="{E5F3FFEC-E98F-62F2-7E14-AB166420A247}"/>
          </ac:picMkLst>
        </pc:picChg>
        <pc:picChg chg="mod">
          <ac:chgData name="り ぶ" userId="e79b0678f96bfbc0" providerId="LiveId" clId="{AAEDD26B-EFCD-460D-8863-543060308144}" dt="2026-06-11T08:57:58.577" v="901" actId="1076"/>
          <ac:picMkLst>
            <pc:docMk/>
            <pc:sldMk cId="1703072708" sldId="522"/>
            <ac:picMk id="4" creationId="{D45482DB-6D2D-7C23-DAC7-130651091E13}"/>
          </ac:picMkLst>
        </pc:picChg>
        <pc:picChg chg="mod">
          <ac:chgData name="り ぶ" userId="e79b0678f96bfbc0" providerId="LiveId" clId="{AAEDD26B-EFCD-460D-8863-543060308144}" dt="2026-06-11T08:57:58.577" v="901" actId="1076"/>
          <ac:picMkLst>
            <pc:docMk/>
            <pc:sldMk cId="1703072708" sldId="522"/>
            <ac:picMk id="5" creationId="{C26F4761-D7BB-778C-0078-DC69CC7F29FF}"/>
          </ac:picMkLst>
        </pc:picChg>
      </pc:sldChg>
      <pc:sldChg chg="modSp mod">
        <pc:chgData name="り ぶ" userId="e79b0678f96bfbc0" providerId="LiveId" clId="{AAEDD26B-EFCD-460D-8863-543060308144}" dt="2026-06-11T08:58:19.969" v="934" actId="20577"/>
        <pc:sldMkLst>
          <pc:docMk/>
          <pc:sldMk cId="2555744823" sldId="523"/>
        </pc:sldMkLst>
        <pc:spChg chg="mod">
          <ac:chgData name="り ぶ" userId="e79b0678f96bfbc0" providerId="LiveId" clId="{AAEDD26B-EFCD-460D-8863-543060308144}" dt="2026-06-11T08:58:09.127" v="902" actId="20577"/>
          <ac:spMkLst>
            <pc:docMk/>
            <pc:sldMk cId="2555744823" sldId="523"/>
            <ac:spMk id="2" creationId="{7BE70854-01F4-6C96-3074-D930F5D01E4C}"/>
          </ac:spMkLst>
        </pc:spChg>
        <pc:spChg chg="mod">
          <ac:chgData name="り ぶ" userId="e79b0678f96bfbc0" providerId="LiveId" clId="{AAEDD26B-EFCD-460D-8863-543060308144}" dt="2026-06-11T08:58:19.969" v="934" actId="20577"/>
          <ac:spMkLst>
            <pc:docMk/>
            <pc:sldMk cId="2555744823" sldId="523"/>
            <ac:spMk id="5" creationId="{0B4E3716-361D-39B7-A3C4-0C78B6228B71}"/>
          </ac:spMkLst>
        </pc:spChg>
      </pc:sldChg>
      <pc:sldChg chg="delSp mod ord">
        <pc:chgData name="り ぶ" userId="e79b0678f96bfbc0" providerId="LiveId" clId="{AAEDD26B-EFCD-460D-8863-543060308144}" dt="2026-06-11T08:59:23.217" v="939" actId="478"/>
        <pc:sldMkLst>
          <pc:docMk/>
          <pc:sldMk cId="3650983268" sldId="543"/>
        </pc:sldMkLst>
      </pc:sldChg>
      <pc:sldChg chg="ord">
        <pc:chgData name="り ぶ" userId="e79b0678f96bfbc0" providerId="LiveId" clId="{AAEDD26B-EFCD-460D-8863-543060308144}" dt="2026-06-11T08:58:35.258" v="936"/>
        <pc:sldMkLst>
          <pc:docMk/>
          <pc:sldMk cId="481371838" sldId="545"/>
        </pc:sldMkLst>
      </pc:sldChg>
      <pc:sldChg chg="modSp mod">
        <pc:chgData name="り ぶ" userId="e79b0678f96bfbc0" providerId="LiveId" clId="{AAEDD26B-EFCD-460D-8863-543060308144}" dt="2026-06-11T08:54:48.534" v="786" actId="207"/>
        <pc:sldMkLst>
          <pc:docMk/>
          <pc:sldMk cId="1910514616" sldId="546"/>
        </pc:sldMkLst>
        <pc:spChg chg="mod">
          <ac:chgData name="り ぶ" userId="e79b0678f96bfbc0" providerId="LiveId" clId="{AAEDD26B-EFCD-460D-8863-543060308144}" dt="2026-06-11T08:54:48.534" v="786" actId="207"/>
          <ac:spMkLst>
            <pc:docMk/>
            <pc:sldMk cId="1910514616" sldId="546"/>
            <ac:spMk id="3" creationId="{52E41566-8280-0748-8F84-2BB00D12B9B2}"/>
          </ac:spMkLst>
        </pc:spChg>
      </pc:sldChg>
      <pc:sldChg chg="modSp mod">
        <pc:chgData name="り ぶ" userId="e79b0678f96bfbc0" providerId="LiveId" clId="{AAEDD26B-EFCD-460D-8863-543060308144}" dt="2026-06-11T09:00:09.916" v="945"/>
        <pc:sldMkLst>
          <pc:docMk/>
          <pc:sldMk cId="1769515340" sldId="555"/>
        </pc:sldMkLst>
        <pc:spChg chg="mod">
          <ac:chgData name="り ぶ" userId="e79b0678f96bfbc0" providerId="LiveId" clId="{AAEDD26B-EFCD-460D-8863-543060308144}" dt="2026-06-11T09:00:09.916" v="945"/>
          <ac:spMkLst>
            <pc:docMk/>
            <pc:sldMk cId="1769515340" sldId="555"/>
            <ac:spMk id="2" creationId="{684E48A4-46F6-3BB5-AEBD-FAF01382FEF0}"/>
          </ac:spMkLst>
        </pc:spChg>
        <pc:spChg chg="mod">
          <ac:chgData name="り ぶ" userId="e79b0678f96bfbc0" providerId="LiveId" clId="{AAEDD26B-EFCD-460D-8863-543060308144}" dt="2026-06-11T08:57:02.683" v="894"/>
          <ac:spMkLst>
            <pc:docMk/>
            <pc:sldMk cId="1769515340" sldId="555"/>
            <ac:spMk id="3" creationId="{1774537F-1AB7-1437-1446-651EBD2774D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AED8D3B-9082-49AA-B4BC-F3F4425AA7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8971" y="0"/>
            <a:ext cx="2921582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ACFA8-1AB5-47AD-8712-789ED582E266}" type="datetimeFigureOut">
              <a:rPr kumimoji="1" lang="ja-JP" altLang="en-US" smtClean="0"/>
              <a:t>2026/6/25</a:t>
            </a:fld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1EDE976-DD9F-4E5B-8DD7-50A554BDD8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8971" y="9377318"/>
            <a:ext cx="2921582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A504E-F46D-4C99-BD4A-3BE220F742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594160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1" orient="horz" pos="3109" userDrawn="1">
          <p15:clr>
            <a:srgbClr val="F26B43"/>
          </p15:clr>
        </p15:guide>
        <p15:guide id="2" pos="2123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8971" y="0"/>
            <a:ext cx="2921582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</a:defRPr>
            </a:lvl1pPr>
          </a:lstStyle>
          <a:p>
            <a:fld id="{49E156C8-D1E6-4437-B817-0C57EC289493}" type="datetimeFigureOut">
              <a:rPr kumimoji="1" lang="ja-JP" altLang="en-US" smtClean="0"/>
              <a:pPr/>
              <a:t>2026/6/25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22963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4212" y="4751219"/>
            <a:ext cx="539369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 dirty="0"/>
              <a:t>Headline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1st subhead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2nd subhead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Text</a:t>
            </a:r>
          </a:p>
          <a:p>
            <a:pPr lvl="4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8971" y="9377318"/>
            <a:ext cx="2921582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latin typeface="+mn-lt"/>
              </a:defRPr>
            </a:lvl1pPr>
          </a:lstStyle>
          <a:p>
            <a:fld id="{C0644275-5C74-4E59-8F01-9B0DD8D2F6FE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409710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09" userDrawn="1">
          <p15:clr>
            <a:srgbClr val="F26B43"/>
          </p15:clr>
        </p15:guide>
        <p15:guide id="2" pos="2123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53435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14509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37527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86015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5556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586911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10142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11431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73162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40238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01962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07127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49EF-68A1-F370-CABC-D231075B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92CFB34-0AE8-69AE-0CC4-713952906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DD1110B-D32D-7280-3FEF-2EAE30BBA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8CEE45B-34D4-AC83-894C-F4E7A3387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6356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30046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E9CE1-0C74-E338-FCEF-D195BD016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CAB3AD8-6425-016B-D6A0-C80C1FF44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64FE738-C545-B7EE-270A-1DFB888B8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717700-C609-F684-5EB8-E937FA84A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62206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41BA3-49E3-2331-B167-EA50A1458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6B3BD94-40EB-005E-F15A-ED161CAAC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BB08362-6E25-4876-1C7C-FDBAB395E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1C585E-5D32-700C-547D-A88E52425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253525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254302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21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07866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708F9C0-B03E-4ABD-81EF-A8BB7439D621}"/>
              </a:ext>
            </a:extLst>
          </p:cNvPr>
          <p:cNvSpPr/>
          <p:nvPr userDrawn="1"/>
        </p:nvSpPr>
        <p:spPr>
          <a:xfrm>
            <a:off x="6874213" y="0"/>
            <a:ext cx="2269787" cy="5143500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999" y="1116000"/>
            <a:ext cx="6575364" cy="1440000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999" y="3067200"/>
            <a:ext cx="6575363" cy="1260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altLang="ja-JP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2A2B3EE-7C59-4DF5-A28E-640979443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78000"/>
            <a:ext cx="540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9641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divi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D431003-5452-43E8-91F6-5795452BC861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000" y="1116000"/>
            <a:ext cx="8280000" cy="1440000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000" y="2710800"/>
            <a:ext cx="8280000" cy="1447200"/>
          </a:xfrm>
        </p:spPr>
        <p:txBody>
          <a:bodyPr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7F34FAF-5899-4FCC-97CF-1CDD972A6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40529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000" y="0"/>
            <a:ext cx="6685609" cy="6876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65141DF-701C-41EB-B436-0296F415C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81978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000" y="0"/>
            <a:ext cx="6692094" cy="6876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400" y="950400"/>
            <a:ext cx="4280400" cy="3787200"/>
          </a:xfrm>
        </p:spPr>
        <p:txBody>
          <a:bodyPr/>
          <a:lstStyle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600" y="950400"/>
            <a:ext cx="4280400" cy="3787200"/>
          </a:xfrm>
        </p:spPr>
        <p:txBody>
          <a:bodyPr/>
          <a:lstStyle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8B49C1F-04E6-4106-8F00-66058D9068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06997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000" y="0"/>
            <a:ext cx="6685609" cy="6876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DF87A6-DCE7-4D8E-9E35-54CD7B854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34677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CA31111-72AC-4540-8598-6B2D0B11659B}"/>
              </a:ext>
            </a:extLst>
          </p:cNvPr>
          <p:cNvSpPr/>
          <p:nvPr userDrawn="1"/>
        </p:nvSpPr>
        <p:spPr>
          <a:xfrm>
            <a:off x="6880698" y="0"/>
            <a:ext cx="2263302" cy="5143500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D8338C9-50E0-476B-A1C1-2CD93525E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78000"/>
            <a:ext cx="540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8D4A2A5-1915-4F3E-BD41-D723F919F40C}"/>
              </a:ext>
            </a:extLst>
          </p:cNvPr>
          <p:cNvSpPr txBox="1"/>
          <p:nvPr userDrawn="1"/>
        </p:nvSpPr>
        <p:spPr>
          <a:xfrm>
            <a:off x="6809362" y="4940177"/>
            <a:ext cx="23346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700" dirty="0"/>
              <a:t>© 2023 Hiroshima Prefecture. All rights reserved.</a:t>
            </a:r>
            <a:endParaRPr kumimoji="1" lang="ja-JP" altLang="en-US" sz="7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7C4AF0D-95A2-45DB-8885-315F831EDA20}"/>
              </a:ext>
            </a:extLst>
          </p:cNvPr>
          <p:cNvSpPr/>
          <p:nvPr userDrawn="1"/>
        </p:nvSpPr>
        <p:spPr>
          <a:xfrm>
            <a:off x="6874213" y="0"/>
            <a:ext cx="2269787" cy="5143500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5B73585-FD00-D04E-2C11-961BCD516F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343" y="209637"/>
            <a:ext cx="1690733" cy="304462"/>
          </a:xfrm>
          <a:prstGeom prst="rect">
            <a:avLst/>
          </a:prstGeom>
          <a:solidFill>
            <a:srgbClr val="00E7EF"/>
          </a:solidFill>
        </p:spPr>
      </p:pic>
    </p:spTree>
    <p:extLst>
      <p:ext uri="{BB962C8B-B14F-4D97-AF65-F5344CB8AC3E}">
        <p14:creationId xmlns:p14="http://schemas.microsoft.com/office/powerpoint/2010/main" val="1735700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97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AC9C8F6-653F-4247-8137-AAA15CB89CD8}"/>
              </a:ext>
            </a:extLst>
          </p:cNvPr>
          <p:cNvSpPr/>
          <p:nvPr userDrawn="1"/>
        </p:nvSpPr>
        <p:spPr>
          <a:xfrm>
            <a:off x="0" y="2204"/>
            <a:ext cx="9144000" cy="719328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234000" y="0"/>
            <a:ext cx="6664823" cy="687600"/>
          </a:xfrm>
          <a:prstGeom prst="rect">
            <a:avLst/>
          </a:prstGeom>
        </p:spPr>
        <p:txBody>
          <a:bodyPr vert="horz" lIns="0" tIns="108000" rIns="0" bIns="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230400" y="950400"/>
            <a:ext cx="8679600" cy="3787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 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 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</a:t>
            </a:r>
            <a:r>
              <a:rPr lang="ja-JP" altLang="en-US" dirty="0"/>
              <a:t> 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</a:t>
            </a:r>
            <a:r>
              <a:rPr lang="ja-JP" altLang="en-US" dirty="0"/>
              <a:t> レベル</a:t>
            </a:r>
            <a:endParaRPr lang="en-US" altLang="ja-JP" dirty="0"/>
          </a:p>
          <a:p>
            <a:pPr lvl="5"/>
            <a:r>
              <a:rPr lang="ja-JP" altLang="en-US" dirty="0"/>
              <a:t>テキスト</a:t>
            </a:r>
            <a:endParaRPr lang="en-US" altLang="ja-JP" dirty="0"/>
          </a:p>
          <a:p>
            <a:pPr lvl="6"/>
            <a:r>
              <a:rPr lang="ja-JP" altLang="en-US" dirty="0"/>
              <a:t>テキスト</a:t>
            </a:r>
            <a:endParaRPr lang="en-US" altLang="ja-JP" dirty="0"/>
          </a:p>
          <a:p>
            <a:pPr lvl="7"/>
            <a:r>
              <a:rPr lang="ja-JP" altLang="en-US" dirty="0"/>
              <a:t>テキスト</a:t>
            </a:r>
            <a:endParaRPr lang="en-US" altLang="ja-JP" dirty="0"/>
          </a:p>
          <a:p>
            <a:pPr lvl="8"/>
            <a:r>
              <a:rPr lang="ja-JP" altLang="en-US" dirty="0"/>
              <a:t>テキスト</a:t>
            </a: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0DC7B19-3A52-4E26-9964-A6ACE8964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4089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699" r:id="rId2"/>
    <p:sldLayoutId id="2147483700" r:id="rId3"/>
    <p:sldLayoutId id="2147483701" r:id="rId4"/>
    <p:sldLayoutId id="2147483702" r:id="rId5"/>
    <p:sldLayoutId id="2147483722" r:id="rId6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2800" b="1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j-cs"/>
        </a:defRPr>
      </a:lvl1pPr>
    </p:titleStyle>
    <p:bodyStyle>
      <a:lvl1pPr marL="216000" indent="-216000" algn="l" defTabSz="685800" rtl="0" eaLnBrk="1" latinLnBrk="0" hangingPunct="1">
        <a:lnSpc>
          <a:spcPct val="100000"/>
        </a:lnSpc>
        <a:spcBef>
          <a:spcPts val="750"/>
        </a:spcBef>
        <a:buClr>
          <a:schemeClr val="accent4"/>
        </a:buClr>
        <a:buSzPct val="90000"/>
        <a:buFont typeface="Wingdings" panose="05000000000000000000" pitchFamily="2" charset="2"/>
        <a:buChar char="l"/>
        <a:defRPr kumimoji="1" sz="22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Ø"/>
        <a:defRPr kumimoji="1" sz="18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5pPr>
      <a:lvl6pPr marL="18859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6pPr>
      <a:lvl7pPr marL="22288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7pPr>
      <a:lvl8pPr marL="25717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8pPr>
      <a:lvl9pPr marL="29146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jpe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5A9657-0BCA-9C9B-0D22-4A47038F2E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ja-JP" altLang="en-US" dirty="0"/>
              <a:t>マイコン</a:t>
            </a:r>
            <a:r>
              <a:rPr lang="en-US" altLang="ja-JP" dirty="0"/>
              <a:t>&amp;Arduino</a:t>
            </a:r>
            <a:r>
              <a:rPr lang="ja-JP" altLang="en-US" dirty="0"/>
              <a:t>入門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144C89F-5A53-AEC2-8774-F954F32C89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7023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9CCAF0-EC83-E73E-7E97-5BBE71152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本プロジェクトの対象</a:t>
            </a:r>
            <a:r>
              <a:rPr lang="ja-JP" altLang="en-US" dirty="0"/>
              <a:t> </a:t>
            </a:r>
            <a:r>
              <a:rPr lang="en-US" altLang="ja-JP" dirty="0"/>
              <a:t>: </a:t>
            </a:r>
            <a:r>
              <a:rPr lang="ja-JP" altLang="en-US" dirty="0"/>
              <a:t>アクチュエータ端末</a:t>
            </a:r>
            <a:endParaRPr kumimoji="1" lang="ja-JP" altLang="en-US" dirty="0"/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A6043642-141E-B949-BBA0-47E3A1E761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ja-JP" altLang="en-US" dirty="0"/>
              <a:t>システム全体の構成</a:t>
            </a:r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32610AF8-DE18-B40A-C493-193DFEA591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ja-JP" dirty="0"/>
              <a:t>IoT</a:t>
            </a:r>
            <a:r>
              <a:rPr lang="ja-JP" altLang="en-US" dirty="0"/>
              <a:t>ネットワーク環境</a:t>
            </a:r>
          </a:p>
        </p:txBody>
      </p:sp>
      <p:sp>
        <p:nvSpPr>
          <p:cNvPr id="3" name="雲 2">
            <a:extLst>
              <a:ext uri="{FF2B5EF4-FFF2-40B4-BE49-F238E27FC236}">
                <a16:creationId xmlns:a16="http://schemas.microsoft.com/office/drawing/2014/main" id="{92C95531-AB78-C117-4389-7F768C78FA70}"/>
              </a:ext>
            </a:extLst>
          </p:cNvPr>
          <p:cNvSpPr/>
          <p:nvPr/>
        </p:nvSpPr>
        <p:spPr>
          <a:xfrm>
            <a:off x="362374" y="2323924"/>
            <a:ext cx="1687848" cy="687600"/>
          </a:xfrm>
          <a:prstGeom prst="cloud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5FA075A-9920-EF10-357D-C69D94193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548" y="1717089"/>
            <a:ext cx="567500" cy="67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E25E87E-6448-8E61-E1C4-9FED92CC9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448" y="3456896"/>
            <a:ext cx="437769" cy="4572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9FDCFAB-BCF3-B441-32E4-875984248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71" y="3363684"/>
            <a:ext cx="571500" cy="5715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E4416FD-2481-53D1-2C4F-840792A28D75}"/>
              </a:ext>
            </a:extLst>
          </p:cNvPr>
          <p:cNvSpPr txBox="1"/>
          <p:nvPr/>
        </p:nvSpPr>
        <p:spPr>
          <a:xfrm>
            <a:off x="745834" y="3990626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各種センサ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8200E6A9-4CD8-572D-C94D-A6F3E99DF2D1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049871" y="2387459"/>
            <a:ext cx="156427" cy="1070145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99EB39B-3C9E-FA07-413C-C931099132DD}"/>
              </a:ext>
            </a:extLst>
          </p:cNvPr>
          <p:cNvSpPr txBox="1"/>
          <p:nvPr/>
        </p:nvSpPr>
        <p:spPr>
          <a:xfrm>
            <a:off x="1101487" y="308668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測定データ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027D895-56F3-2E5C-A90B-52EE5BBF0D24}"/>
              </a:ext>
            </a:extLst>
          </p:cNvPr>
          <p:cNvSpPr txBox="1"/>
          <p:nvPr/>
        </p:nvSpPr>
        <p:spPr>
          <a:xfrm>
            <a:off x="904638" y="1508768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サーバ</a:t>
            </a:r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DAE7B8AB-714A-6B43-4EA3-D7188A6C1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9982" y="1661647"/>
            <a:ext cx="61379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3E63256-D4F3-3C7B-27C7-9046F10C8F44}"/>
              </a:ext>
            </a:extLst>
          </p:cNvPr>
          <p:cNvCxnSpPr>
            <a:stCxn id="4" idx="3"/>
            <a:endCxn id="14" idx="1"/>
          </p:cNvCxnSpPr>
          <p:nvPr/>
        </p:nvCxnSpPr>
        <p:spPr>
          <a:xfrm>
            <a:off x="1490048" y="2052274"/>
            <a:ext cx="1499934" cy="66573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A4BD714-3A07-FDE4-1C64-C0C4F4AAD1AD}"/>
              </a:ext>
            </a:extLst>
          </p:cNvPr>
          <p:cNvSpPr txBox="1"/>
          <p:nvPr/>
        </p:nvSpPr>
        <p:spPr>
          <a:xfrm>
            <a:off x="1795421" y="2114307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センサ情報提供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03AE0AF8-9EC8-6017-83A6-61AEF6FE51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7719" y="2796864"/>
            <a:ext cx="623888" cy="688658"/>
          </a:xfrm>
          <a:prstGeom prst="rect">
            <a:avLst/>
          </a:prstGeom>
        </p:spPr>
      </p:pic>
      <p:pic>
        <p:nvPicPr>
          <p:cNvPr id="19" name="Picture 6">
            <a:extLst>
              <a:ext uri="{FF2B5EF4-FFF2-40B4-BE49-F238E27FC236}">
                <a16:creationId xmlns:a16="http://schemas.microsoft.com/office/drawing/2014/main" id="{73E96800-9DFB-FC6F-3E1C-F6DD23F444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4" t="1001" r="17586" b="60851"/>
          <a:stretch/>
        </p:blipFill>
        <p:spPr bwMode="auto">
          <a:xfrm>
            <a:off x="2504693" y="3488660"/>
            <a:ext cx="773682" cy="339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CFE69A04-2677-125C-BA30-10B9EFF6173E}"/>
              </a:ext>
            </a:extLst>
          </p:cNvPr>
          <p:cNvCxnSpPr>
            <a:cxnSpLocks/>
          </p:cNvCxnSpPr>
          <p:nvPr/>
        </p:nvCxnSpPr>
        <p:spPr>
          <a:xfrm>
            <a:off x="1499339" y="2196717"/>
            <a:ext cx="1201570" cy="110596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FD5DE42-0BE3-F60C-6034-CC6EBEE45117}"/>
              </a:ext>
            </a:extLst>
          </p:cNvPr>
          <p:cNvSpPr txBox="1"/>
          <p:nvPr/>
        </p:nvSpPr>
        <p:spPr>
          <a:xfrm>
            <a:off x="2303124" y="281261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制御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48660E2F-56BD-66B1-A745-97B2912D76F7}"/>
              </a:ext>
            </a:extLst>
          </p:cNvPr>
          <p:cNvSpPr/>
          <p:nvPr/>
        </p:nvSpPr>
        <p:spPr>
          <a:xfrm>
            <a:off x="2248738" y="2762030"/>
            <a:ext cx="1280174" cy="1228596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F13D837-BE1B-996F-D34D-C01A5E607B53}"/>
              </a:ext>
            </a:extLst>
          </p:cNvPr>
          <p:cNvSpPr txBox="1"/>
          <p:nvPr/>
        </p:nvSpPr>
        <p:spPr>
          <a:xfrm>
            <a:off x="2240015" y="4064585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>
                <a:solidFill>
                  <a:srgbClr val="FF0000"/>
                </a:solidFill>
              </a:rPr>
              <a:t>本プロジェクトの対象</a:t>
            </a:r>
          </a:p>
        </p:txBody>
      </p:sp>
      <p:sp>
        <p:nvSpPr>
          <p:cNvPr id="25" name="雲 24">
            <a:extLst>
              <a:ext uri="{FF2B5EF4-FFF2-40B4-BE49-F238E27FC236}">
                <a16:creationId xmlns:a16="http://schemas.microsoft.com/office/drawing/2014/main" id="{5E1AD909-D800-E004-1F13-41D77C28E368}"/>
              </a:ext>
            </a:extLst>
          </p:cNvPr>
          <p:cNvSpPr/>
          <p:nvPr/>
        </p:nvSpPr>
        <p:spPr>
          <a:xfrm>
            <a:off x="5676335" y="3248315"/>
            <a:ext cx="1837268" cy="833967"/>
          </a:xfrm>
          <a:prstGeom prst="cloud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IoT</a:t>
            </a:r>
            <a:r>
              <a:rPr kumimoji="1"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機器専用</a:t>
            </a:r>
            <a:endParaRPr kumimoji="1" lang="en-US" altLang="ja-JP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ネットワーク</a:t>
            </a:r>
          </a:p>
        </p:txBody>
      </p:sp>
      <p:sp>
        <p:nvSpPr>
          <p:cNvPr id="26" name="雲 25">
            <a:extLst>
              <a:ext uri="{FF2B5EF4-FFF2-40B4-BE49-F238E27FC236}">
                <a16:creationId xmlns:a16="http://schemas.microsoft.com/office/drawing/2014/main" id="{78D3A549-010C-FEEF-D87E-AAE134C813D8}"/>
              </a:ext>
            </a:extLst>
          </p:cNvPr>
          <p:cNvSpPr/>
          <p:nvPr/>
        </p:nvSpPr>
        <p:spPr>
          <a:xfrm>
            <a:off x="5676335" y="2005830"/>
            <a:ext cx="2189147" cy="1099819"/>
          </a:xfrm>
          <a:prstGeom prst="cloud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インターネット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34F46A1-81BC-2026-0E07-68D84E3B28D7}"/>
              </a:ext>
            </a:extLst>
          </p:cNvPr>
          <p:cNvSpPr/>
          <p:nvPr/>
        </p:nvSpPr>
        <p:spPr>
          <a:xfrm>
            <a:off x="6256302" y="2819480"/>
            <a:ext cx="1327573" cy="60282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IoT GW</a:t>
            </a:r>
          </a:p>
          <a:p>
            <a:pPr algn="ctr"/>
            <a:r>
              <a:rPr lang="en-US" altLang="ja-JP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(</a:t>
            </a:r>
            <a:r>
              <a:rPr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ゲートウェイ</a:t>
            </a:r>
            <a:r>
              <a:rPr lang="en-US" altLang="ja-JP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)</a:t>
            </a:r>
            <a:endParaRPr kumimoji="1" lang="ja-JP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1C3A1BDB-9D86-94DE-94B5-82BF601AC30A}"/>
              </a:ext>
            </a:extLst>
          </p:cNvPr>
          <p:cNvSpPr/>
          <p:nvPr/>
        </p:nvSpPr>
        <p:spPr>
          <a:xfrm>
            <a:off x="6265458" y="1611631"/>
            <a:ext cx="1327573" cy="60282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サーバ</a:t>
            </a:r>
            <a:endParaRPr kumimoji="1" lang="ja-JP" alt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43F33BA-B06F-2CF2-C858-C047F1835B4A}"/>
              </a:ext>
            </a:extLst>
          </p:cNvPr>
          <p:cNvSpPr/>
          <p:nvPr/>
        </p:nvSpPr>
        <p:spPr>
          <a:xfrm>
            <a:off x="4784793" y="3685620"/>
            <a:ext cx="1172214" cy="319195"/>
          </a:xfrm>
          <a:prstGeom prst="rect">
            <a:avLst/>
          </a:prstGeom>
          <a:solidFill>
            <a:srgbClr val="FFEF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アクチュエータ</a:t>
            </a:r>
            <a:endParaRPr kumimoji="1" lang="ja-JP" altLang="en-US" sz="1100" dirty="0">
              <a:solidFill>
                <a:schemeClr val="tx1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32" name="フリーフォーム: 図形 31">
            <a:extLst>
              <a:ext uri="{FF2B5EF4-FFF2-40B4-BE49-F238E27FC236}">
                <a16:creationId xmlns:a16="http://schemas.microsoft.com/office/drawing/2014/main" id="{1218D67E-10B1-1288-28F3-8DB6E9344815}"/>
              </a:ext>
            </a:extLst>
          </p:cNvPr>
          <p:cNvSpPr/>
          <p:nvPr/>
        </p:nvSpPr>
        <p:spPr>
          <a:xfrm flipH="1">
            <a:off x="5548915" y="3101842"/>
            <a:ext cx="663786" cy="602827"/>
          </a:xfrm>
          <a:custGeom>
            <a:avLst/>
            <a:gdLst>
              <a:gd name="connsiteX0" fmla="*/ 663786 w 663786"/>
              <a:gd name="connsiteY0" fmla="*/ 602827 h 602827"/>
              <a:gd name="connsiteX1" fmla="*/ 487680 w 663786"/>
              <a:gd name="connsiteY1" fmla="*/ 304800 h 602827"/>
              <a:gd name="connsiteX2" fmla="*/ 0 w 663786"/>
              <a:gd name="connsiteY2" fmla="*/ 0 h 602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3786" h="602827">
                <a:moveTo>
                  <a:pt x="663786" y="602827"/>
                </a:moveTo>
                <a:cubicBezTo>
                  <a:pt x="631048" y="504049"/>
                  <a:pt x="598311" y="405271"/>
                  <a:pt x="487680" y="304800"/>
                </a:cubicBezTo>
                <a:cubicBezTo>
                  <a:pt x="377049" y="204329"/>
                  <a:pt x="188524" y="102164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4CFD058-4F72-2B43-9809-36449F646E7D}"/>
              </a:ext>
            </a:extLst>
          </p:cNvPr>
          <p:cNvSpPr txBox="1"/>
          <p:nvPr/>
        </p:nvSpPr>
        <p:spPr>
          <a:xfrm>
            <a:off x="5012373" y="2853517"/>
            <a:ext cx="8002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制御命令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フェッチ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/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(pull)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34" name="フリーフォーム: 図形 33">
            <a:extLst>
              <a:ext uri="{FF2B5EF4-FFF2-40B4-BE49-F238E27FC236}">
                <a16:creationId xmlns:a16="http://schemas.microsoft.com/office/drawing/2014/main" id="{C9B2E603-9B79-6D9B-D8A6-1898D0F54249}"/>
              </a:ext>
            </a:extLst>
          </p:cNvPr>
          <p:cNvSpPr/>
          <p:nvPr/>
        </p:nvSpPr>
        <p:spPr>
          <a:xfrm>
            <a:off x="7583876" y="1901235"/>
            <a:ext cx="437850" cy="1148517"/>
          </a:xfrm>
          <a:custGeom>
            <a:avLst/>
            <a:gdLst>
              <a:gd name="connsiteX0" fmla="*/ 663786 w 663786"/>
              <a:gd name="connsiteY0" fmla="*/ 602827 h 602827"/>
              <a:gd name="connsiteX1" fmla="*/ 487680 w 663786"/>
              <a:gd name="connsiteY1" fmla="*/ 304800 h 602827"/>
              <a:gd name="connsiteX2" fmla="*/ 0 w 663786"/>
              <a:gd name="connsiteY2" fmla="*/ 0 h 602827"/>
              <a:gd name="connsiteX0" fmla="*/ 192490 w 505618"/>
              <a:gd name="connsiteY0" fmla="*/ 681765 h 681765"/>
              <a:gd name="connsiteX1" fmla="*/ 487680 w 505618"/>
              <a:gd name="connsiteY1" fmla="*/ 304800 h 681765"/>
              <a:gd name="connsiteX2" fmla="*/ 0 w 505618"/>
              <a:gd name="connsiteY2" fmla="*/ 0 h 681765"/>
              <a:gd name="connsiteX0" fmla="*/ 192490 w 521536"/>
              <a:gd name="connsiteY0" fmla="*/ 681765 h 681765"/>
              <a:gd name="connsiteX1" fmla="*/ 487680 w 521536"/>
              <a:gd name="connsiteY1" fmla="*/ 304800 h 681765"/>
              <a:gd name="connsiteX2" fmla="*/ 0 w 521536"/>
              <a:gd name="connsiteY2" fmla="*/ 0 h 681765"/>
              <a:gd name="connsiteX0" fmla="*/ 480 w 507905"/>
              <a:gd name="connsiteY0" fmla="*/ 687209 h 687209"/>
              <a:gd name="connsiteX1" fmla="*/ 487680 w 507905"/>
              <a:gd name="connsiteY1" fmla="*/ 304800 h 687209"/>
              <a:gd name="connsiteX2" fmla="*/ 0 w 507905"/>
              <a:gd name="connsiteY2" fmla="*/ 0 h 68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7905" h="687209">
                <a:moveTo>
                  <a:pt x="480" y="687209"/>
                </a:moveTo>
                <a:cubicBezTo>
                  <a:pt x="229572" y="596598"/>
                  <a:pt x="598311" y="405271"/>
                  <a:pt x="487680" y="304800"/>
                </a:cubicBezTo>
                <a:cubicBezTo>
                  <a:pt x="377049" y="204329"/>
                  <a:pt x="188524" y="102164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721FF85A-96CB-E76B-6B46-6972CBAEA58D}"/>
              </a:ext>
            </a:extLst>
          </p:cNvPr>
          <p:cNvSpPr txBox="1"/>
          <p:nvPr/>
        </p:nvSpPr>
        <p:spPr>
          <a:xfrm>
            <a:off x="7760301" y="170640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制御命令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/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(push)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36" name="吹き出し: 四角形 35">
            <a:extLst>
              <a:ext uri="{FF2B5EF4-FFF2-40B4-BE49-F238E27FC236}">
                <a16:creationId xmlns:a16="http://schemas.microsoft.com/office/drawing/2014/main" id="{DBB689DD-5C79-194F-EB1A-DFCC96BCCC3E}"/>
              </a:ext>
            </a:extLst>
          </p:cNvPr>
          <p:cNvSpPr/>
          <p:nvPr/>
        </p:nvSpPr>
        <p:spPr>
          <a:xfrm>
            <a:off x="7865482" y="3093799"/>
            <a:ext cx="1014876" cy="461665"/>
          </a:xfrm>
          <a:prstGeom prst="wedgeRectCallout">
            <a:avLst>
              <a:gd name="adj1" fmla="val -85607"/>
              <a:gd name="adj2" fmla="val -19574"/>
            </a:avLst>
          </a:prstGeom>
          <a:solidFill>
            <a:srgbClr val="FFFFE7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メッセージ</a:t>
            </a:r>
            <a:endParaRPr kumimoji="1" lang="en-US" altLang="ja-JP" sz="1200" dirty="0">
              <a:solidFill>
                <a:schemeClr val="tx1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配送</a:t>
            </a:r>
          </a:p>
        </p:txBody>
      </p:sp>
      <p:sp>
        <p:nvSpPr>
          <p:cNvPr id="38" name="吹き出し: 四角形 37">
            <a:extLst>
              <a:ext uri="{FF2B5EF4-FFF2-40B4-BE49-F238E27FC236}">
                <a16:creationId xmlns:a16="http://schemas.microsoft.com/office/drawing/2014/main" id="{0C94814C-1E2F-3BE4-1392-CBC5CA246977}"/>
              </a:ext>
            </a:extLst>
          </p:cNvPr>
          <p:cNvSpPr/>
          <p:nvPr/>
        </p:nvSpPr>
        <p:spPr>
          <a:xfrm>
            <a:off x="7756596" y="1134802"/>
            <a:ext cx="1014877" cy="428933"/>
          </a:xfrm>
          <a:prstGeom prst="wedgeRectCallout">
            <a:avLst>
              <a:gd name="adj1" fmla="val -3977"/>
              <a:gd name="adj2" fmla="val 91245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MQTT</a:t>
            </a: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プロトコル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60B6EB2-C307-7EED-C375-47E42AD441AC}"/>
              </a:ext>
            </a:extLst>
          </p:cNvPr>
          <p:cNvSpPr/>
          <p:nvPr/>
        </p:nvSpPr>
        <p:spPr>
          <a:xfrm>
            <a:off x="7196066" y="3629087"/>
            <a:ext cx="1172214" cy="319195"/>
          </a:xfrm>
          <a:prstGeom prst="rect">
            <a:avLst/>
          </a:prstGeom>
          <a:solidFill>
            <a:srgbClr val="FFEF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アクチュエータ</a:t>
            </a:r>
            <a:endParaRPr kumimoji="1" lang="ja-JP" altLang="en-US" sz="1100" dirty="0">
              <a:solidFill>
                <a:schemeClr val="tx1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7490CFB-5579-B288-03B8-C5A47ED03B57}"/>
              </a:ext>
            </a:extLst>
          </p:cNvPr>
          <p:cNvSpPr/>
          <p:nvPr/>
        </p:nvSpPr>
        <p:spPr>
          <a:xfrm>
            <a:off x="6182621" y="4065350"/>
            <a:ext cx="1172214" cy="319195"/>
          </a:xfrm>
          <a:prstGeom prst="rect">
            <a:avLst/>
          </a:prstGeom>
          <a:solidFill>
            <a:srgbClr val="FFEF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アクチュエータ</a:t>
            </a:r>
            <a:endParaRPr kumimoji="1" lang="ja-JP" altLang="en-US" sz="1100" dirty="0">
              <a:solidFill>
                <a:schemeClr val="tx1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04A46D0E-B567-3E79-6841-3B181A28073B}"/>
              </a:ext>
            </a:extLst>
          </p:cNvPr>
          <p:cNvCxnSpPr>
            <a:cxnSpLocks/>
          </p:cNvCxnSpPr>
          <p:nvPr/>
        </p:nvCxnSpPr>
        <p:spPr>
          <a:xfrm flipH="1" flipV="1">
            <a:off x="1550969" y="1967063"/>
            <a:ext cx="1378018" cy="63058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3DECA945-14C8-0A11-807D-20EE11FB5DBF}"/>
              </a:ext>
            </a:extLst>
          </p:cNvPr>
          <p:cNvSpPr txBox="1"/>
          <p:nvPr/>
        </p:nvSpPr>
        <p:spPr>
          <a:xfrm>
            <a:off x="2149235" y="167717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制御指示</a:t>
            </a:r>
          </a:p>
        </p:txBody>
      </p:sp>
    </p:spTree>
    <p:extLst>
      <p:ext uri="{BB962C8B-B14F-4D97-AF65-F5344CB8AC3E}">
        <p14:creationId xmlns:p14="http://schemas.microsoft.com/office/powerpoint/2010/main" val="3149769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B72B26-44E4-2FFB-3CA8-FE731D814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組み込み</a:t>
            </a:r>
            <a:r>
              <a:rPr lang="ja-JP" altLang="en-US" dirty="0"/>
              <a:t>システム</a:t>
            </a:r>
            <a:r>
              <a:rPr kumimoji="1" lang="ja-JP" altLang="en-US" dirty="0"/>
              <a:t>用マイコン </a:t>
            </a:r>
            <a:r>
              <a:rPr kumimoji="1" lang="en-US" altLang="ja-JP" dirty="0"/>
              <a:t>: </a:t>
            </a:r>
            <a:r>
              <a:rPr kumimoji="1" lang="ja-JP" altLang="en-US" dirty="0"/>
              <a:t>プロ</a:t>
            </a:r>
            <a:r>
              <a:rPr lang="ja-JP" altLang="en-US" dirty="0"/>
              <a:t>の世界</a:t>
            </a:r>
            <a:endParaRPr kumimoji="1"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DD30F2F-60BE-743E-1BA4-0239E5C28B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ja-JP" altLang="en-US" dirty="0"/>
              <a:t>開発用マイコン</a:t>
            </a:r>
            <a:endParaRPr lang="en-US" altLang="ja-JP" dirty="0"/>
          </a:p>
          <a:p>
            <a:pPr lvl="1"/>
            <a:r>
              <a:rPr lang="en-US" altLang="ja-JP" dirty="0"/>
              <a:t>MCU(CPU+α</a:t>
            </a:r>
            <a:r>
              <a:rPr lang="ja-JP" altLang="en-US" dirty="0"/>
              <a:t>の</a:t>
            </a:r>
            <a:r>
              <a:rPr lang="en-US" altLang="ja-JP" dirty="0"/>
              <a:t>LSI)</a:t>
            </a:r>
            <a:r>
              <a:rPr lang="ja-JP" altLang="en-US" dirty="0"/>
              <a:t>ベンダが販売</a:t>
            </a:r>
            <a:endParaRPr lang="en-US" altLang="ja-JP" dirty="0"/>
          </a:p>
          <a:p>
            <a:pPr lvl="1"/>
            <a:r>
              <a:rPr lang="ja-JP" altLang="en-US" dirty="0"/>
              <a:t>様々な周辺回路が搭載済み</a:t>
            </a:r>
            <a:endParaRPr lang="en-US" altLang="ja-JP" dirty="0"/>
          </a:p>
          <a:p>
            <a:pPr lvl="2"/>
            <a:r>
              <a:rPr lang="en-US" altLang="ja-JP" dirty="0"/>
              <a:t>HDMI, </a:t>
            </a:r>
            <a:r>
              <a:rPr lang="ja-JP" altLang="en-US" dirty="0"/>
              <a:t>オーディオ</a:t>
            </a:r>
            <a:r>
              <a:rPr lang="en-US" altLang="ja-JP" dirty="0"/>
              <a:t>, USB,</a:t>
            </a:r>
            <a:br>
              <a:rPr lang="en-US" altLang="ja-JP" dirty="0"/>
            </a:br>
            <a:r>
              <a:rPr lang="en-US" altLang="ja-JP" dirty="0"/>
              <a:t> </a:t>
            </a:r>
            <a:r>
              <a:rPr lang="ja-JP" altLang="en-US" dirty="0"/>
              <a:t>イーサネット</a:t>
            </a:r>
            <a:r>
              <a:rPr lang="en-US" altLang="ja-JP" dirty="0"/>
              <a:t>, </a:t>
            </a:r>
            <a:r>
              <a:rPr lang="en-US" altLang="ja-JP" dirty="0" err="1"/>
              <a:t>WiFi</a:t>
            </a:r>
            <a:r>
              <a:rPr lang="en-US" altLang="ja-JP" dirty="0"/>
              <a:t>, Bluetooth</a:t>
            </a:r>
          </a:p>
          <a:p>
            <a:pPr lvl="1"/>
            <a:r>
              <a:rPr lang="ja-JP" altLang="en-US" dirty="0"/>
              <a:t>高価</a:t>
            </a:r>
            <a:endParaRPr lang="en-US" altLang="ja-JP" dirty="0"/>
          </a:p>
          <a:p>
            <a:pPr lvl="2"/>
            <a:r>
              <a:rPr lang="ja-JP" altLang="en-US" dirty="0"/>
              <a:t>ハードウェア </a:t>
            </a:r>
            <a:r>
              <a:rPr lang="en-US" altLang="ja-JP" dirty="0"/>
              <a:t>: </a:t>
            </a:r>
            <a:r>
              <a:rPr lang="ja-JP" altLang="en-US" dirty="0"/>
              <a:t>数万円</a:t>
            </a:r>
            <a:r>
              <a:rPr lang="en-US" altLang="ja-JP" dirty="0"/>
              <a:t>/</a:t>
            </a:r>
            <a:r>
              <a:rPr lang="ja-JP" altLang="en-US" dirty="0"/>
              <a:t>個</a:t>
            </a:r>
            <a:endParaRPr lang="en-US" altLang="ja-JP" dirty="0"/>
          </a:p>
          <a:p>
            <a:pPr lvl="2"/>
            <a:r>
              <a:rPr lang="ja-JP" altLang="en-US" dirty="0"/>
              <a:t>ソフトウェア開発環境 </a:t>
            </a:r>
            <a:r>
              <a:rPr lang="en-US" altLang="ja-JP" dirty="0"/>
              <a:t>: </a:t>
            </a:r>
            <a:r>
              <a:rPr lang="ja-JP" altLang="en-US" dirty="0"/>
              <a:t>数万～数十万</a:t>
            </a:r>
            <a:endParaRPr lang="en-US" altLang="ja-JP" dirty="0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E9B90EF-0A06-76BE-F04B-F58AA52140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altLang="en-US" dirty="0"/>
              <a:t>最終形</a:t>
            </a:r>
            <a:r>
              <a:rPr lang="en-US" altLang="ja-JP" dirty="0"/>
              <a:t>(</a:t>
            </a:r>
            <a:r>
              <a:rPr lang="ja-JP" altLang="en-US" dirty="0"/>
              <a:t>製品版</a:t>
            </a:r>
            <a:r>
              <a:rPr lang="en-US" altLang="ja-JP" dirty="0"/>
              <a:t>)</a:t>
            </a:r>
            <a:r>
              <a:rPr lang="ja-JP" altLang="en-US" dirty="0"/>
              <a:t>マイコン</a:t>
            </a:r>
            <a:endParaRPr lang="en-US" altLang="ja-JP" dirty="0"/>
          </a:p>
          <a:p>
            <a:pPr lvl="1"/>
            <a:r>
              <a:rPr lang="ja-JP" altLang="en-US" dirty="0"/>
              <a:t>開発者が用意する</a:t>
            </a:r>
            <a:endParaRPr lang="en-US" altLang="ja-JP" dirty="0"/>
          </a:p>
          <a:p>
            <a:pPr lvl="2"/>
            <a:r>
              <a:rPr lang="ja-JP" altLang="en-US" dirty="0"/>
              <a:t>左のマイコンから必要部分を抜き出したハードウェアを設計</a:t>
            </a:r>
            <a:r>
              <a:rPr lang="en-US" altLang="ja-JP" dirty="0"/>
              <a:t>/</a:t>
            </a:r>
            <a:r>
              <a:rPr lang="ja-JP" altLang="en-US" dirty="0"/>
              <a:t>制作</a:t>
            </a:r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2"/>
            <a:endParaRPr lang="en-US" altLang="ja-JP" dirty="0"/>
          </a:p>
          <a:p>
            <a:pPr lvl="1"/>
            <a:r>
              <a:rPr lang="ja-JP" altLang="en-US" dirty="0"/>
              <a:t>ハードソフトの設計</a:t>
            </a:r>
            <a:r>
              <a:rPr lang="en-US" altLang="ja-JP" dirty="0"/>
              <a:t>/</a:t>
            </a:r>
            <a:r>
              <a:rPr lang="ja-JP" altLang="en-US" dirty="0"/>
              <a:t>制作などは</a:t>
            </a:r>
            <a:br>
              <a:rPr lang="en-US" altLang="ja-JP" dirty="0"/>
            </a:br>
            <a:r>
              <a:rPr lang="ja-JP" altLang="en-US" dirty="0"/>
              <a:t>各分野のプロで分業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067DC05-A53E-CD54-7550-88214A4BAA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934" t="15322" r="16064" b="15630"/>
          <a:stretch/>
        </p:blipFill>
        <p:spPr>
          <a:xfrm>
            <a:off x="1097369" y="3351578"/>
            <a:ext cx="1943157" cy="131602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55BBAF4-7789-5C62-C9EF-B707338558EA}"/>
              </a:ext>
            </a:extLst>
          </p:cNvPr>
          <p:cNvSpPr txBox="1"/>
          <p:nvPr/>
        </p:nvSpPr>
        <p:spPr>
          <a:xfrm>
            <a:off x="230400" y="4667600"/>
            <a:ext cx="42739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000" dirty="0"/>
              <a:t>Discovery kit with STM32MP157D MPU</a:t>
            </a:r>
          </a:p>
          <a:p>
            <a:pPr algn="l"/>
            <a:r>
              <a:rPr kumimoji="1" lang="en-US" altLang="ja-JP" sz="1000" dirty="0"/>
              <a:t>https://www.st.com/ja/evaluation-tools/stm32mp157d-dk1.html</a:t>
            </a:r>
            <a:endParaRPr kumimoji="1" lang="ja-JP" altLang="en-US" sz="1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4FEE591-954E-AF3B-26A5-0D2A3E0D66AC}"/>
              </a:ext>
            </a:extLst>
          </p:cNvPr>
          <p:cNvSpPr txBox="1"/>
          <p:nvPr/>
        </p:nvSpPr>
        <p:spPr>
          <a:xfrm>
            <a:off x="5642810" y="2387084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dirty="0">
                <a:solidFill>
                  <a:srgbClr val="FF0000"/>
                </a:solidFill>
              </a:rPr>
              <a:t>大量生産すれば安くなる</a:t>
            </a:r>
          </a:p>
        </p:txBody>
      </p:sp>
    </p:spTree>
    <p:extLst>
      <p:ext uri="{BB962C8B-B14F-4D97-AF65-F5344CB8AC3E}">
        <p14:creationId xmlns:p14="http://schemas.microsoft.com/office/powerpoint/2010/main" val="223806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F7635B-7F55-3860-E7D9-602F0FF3B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オープンソースハードウェア</a:t>
            </a:r>
            <a:r>
              <a:rPr kumimoji="1" lang="en-US" altLang="ja-JP" dirty="0"/>
              <a:t>(Arduino</a:t>
            </a:r>
            <a:r>
              <a:rPr kumimoji="1" lang="ja-JP" altLang="en-US" dirty="0"/>
              <a:t>等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1F8264-6F4D-894A-5DE0-DA835BC9B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 dirty="0"/>
              <a:t>開発用と最終形が同じ基板</a:t>
            </a:r>
            <a:endParaRPr lang="en-US" altLang="ja-JP" dirty="0"/>
          </a:p>
          <a:p>
            <a:pPr lvl="1"/>
            <a:r>
              <a:rPr lang="ja-JP" altLang="en-US" dirty="0"/>
              <a:t>最小限のものだけが含まれる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r>
              <a:rPr lang="ja-JP" altLang="en-US" dirty="0"/>
              <a:t>周辺回路 </a:t>
            </a:r>
            <a:r>
              <a:rPr lang="en-US" altLang="ja-JP" dirty="0"/>
              <a:t>: </a:t>
            </a:r>
            <a:r>
              <a:rPr lang="ja-JP" altLang="en-US" dirty="0"/>
              <a:t>開発者が自分で選んだ回路を自分で接続</a:t>
            </a:r>
            <a:r>
              <a:rPr lang="en-US" altLang="ja-JP" dirty="0"/>
              <a:t>(</a:t>
            </a:r>
            <a:r>
              <a:rPr lang="ja-JP" altLang="en-US" dirty="0"/>
              <a:t>配線</a:t>
            </a:r>
            <a:r>
              <a:rPr lang="en-US" altLang="ja-JP" dirty="0"/>
              <a:t>)</a:t>
            </a:r>
          </a:p>
          <a:p>
            <a:pPr lvl="1"/>
            <a:endParaRPr lang="en-US" altLang="ja-JP" dirty="0"/>
          </a:p>
          <a:p>
            <a:r>
              <a:rPr lang="ja-JP" altLang="en-US" dirty="0"/>
              <a:t>一定レベルの技術力があれば，一人で全て</a:t>
            </a:r>
            <a:r>
              <a:rPr lang="en-US" altLang="ja-JP" dirty="0"/>
              <a:t>(</a:t>
            </a:r>
            <a:r>
              <a:rPr lang="ja-JP" altLang="en-US" dirty="0"/>
              <a:t>ソフト・ハード</a:t>
            </a:r>
            <a:r>
              <a:rPr lang="en-US" altLang="ja-JP" dirty="0"/>
              <a:t>)</a:t>
            </a:r>
            <a:r>
              <a:rPr lang="ja-JP" altLang="en-US" dirty="0"/>
              <a:t>開発可能</a:t>
            </a:r>
            <a:endParaRPr lang="en-US" altLang="ja-JP" dirty="0"/>
          </a:p>
          <a:p>
            <a:pPr lvl="1"/>
            <a:r>
              <a:rPr lang="ja-JP" altLang="en-US" dirty="0"/>
              <a:t>ただし，小型化やきれいな基板・箱への収納はできない</a:t>
            </a:r>
            <a:endParaRPr lang="en-US" altLang="ja-JP" dirty="0"/>
          </a:p>
          <a:p>
            <a:pPr lvl="1"/>
            <a:endParaRPr lang="en-US" altLang="ja-JP" dirty="0"/>
          </a:p>
          <a:p>
            <a:r>
              <a:rPr lang="ja-JP" altLang="en-US" dirty="0"/>
              <a:t>低価格</a:t>
            </a:r>
            <a:endParaRPr lang="en-US" altLang="ja-JP" dirty="0"/>
          </a:p>
          <a:p>
            <a:pPr lvl="1"/>
            <a:r>
              <a:rPr lang="ja-JP" altLang="en-US" dirty="0"/>
              <a:t>ハードウェア</a:t>
            </a:r>
            <a:r>
              <a:rPr lang="en-US" altLang="ja-JP" dirty="0"/>
              <a:t> : </a:t>
            </a:r>
            <a:r>
              <a:rPr lang="ja-JP" altLang="en-US" dirty="0"/>
              <a:t>数千円</a:t>
            </a:r>
            <a:r>
              <a:rPr lang="en-US" altLang="ja-JP" dirty="0"/>
              <a:t>/</a:t>
            </a:r>
            <a:r>
              <a:rPr lang="ja-JP" altLang="en-US" dirty="0"/>
              <a:t>個</a:t>
            </a:r>
            <a:endParaRPr lang="en-US" altLang="ja-JP" dirty="0"/>
          </a:p>
          <a:p>
            <a:pPr lvl="1"/>
            <a:r>
              <a:rPr lang="ja-JP" altLang="en-US" dirty="0"/>
              <a:t>ソフトウェア開発環境 </a:t>
            </a:r>
            <a:r>
              <a:rPr lang="en-US" altLang="ja-JP" dirty="0"/>
              <a:t>: </a:t>
            </a:r>
            <a:r>
              <a:rPr lang="ja-JP" altLang="en-US" dirty="0"/>
              <a:t>無料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00A07FA-A309-CEB2-BB78-672021E2E8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09" t="6439" r="5734" b="5634"/>
          <a:stretch/>
        </p:blipFill>
        <p:spPr>
          <a:xfrm>
            <a:off x="4497859" y="839332"/>
            <a:ext cx="1212702" cy="90953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9F8E531-FD36-260E-C945-CE8E9D987591}"/>
              </a:ext>
            </a:extLst>
          </p:cNvPr>
          <p:cNvSpPr txBox="1"/>
          <p:nvPr/>
        </p:nvSpPr>
        <p:spPr>
          <a:xfrm>
            <a:off x="3682314" y="1748862"/>
            <a:ext cx="53238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000" dirty="0"/>
              <a:t>Arduino Uno R4 minima</a:t>
            </a:r>
          </a:p>
          <a:p>
            <a:pPr algn="l"/>
            <a:r>
              <a:rPr kumimoji="1" lang="en-US" altLang="ja-JP" sz="1000" dirty="0"/>
              <a:t>https://store-usa.arduino.cc/collections/boards-modules/products/uno-r4-minima</a:t>
            </a:r>
            <a:endParaRPr kumimoji="1" lang="ja-JP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408879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1DCEA5-88C1-C2AF-54FB-630EB4353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Arduino</a:t>
            </a:r>
            <a:r>
              <a:rPr kumimoji="1" lang="ja-JP" altLang="en-US" dirty="0"/>
              <a:t>の代表的な機種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82D2DCB9-BF0C-C7B0-0CD2-F9B82B2386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ja-JP" dirty="0"/>
              <a:t>Nano</a:t>
            </a:r>
            <a:r>
              <a:rPr lang="ja-JP" altLang="en-US" dirty="0"/>
              <a:t>ファミリ</a:t>
            </a:r>
            <a:endParaRPr lang="en-US" altLang="ja-JP" dirty="0"/>
          </a:p>
          <a:p>
            <a:pPr lvl="1"/>
            <a:r>
              <a:rPr lang="en-US" altLang="ja-JP" dirty="0"/>
              <a:t>Nano 33 IoT</a:t>
            </a:r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Classic</a:t>
            </a:r>
            <a:r>
              <a:rPr lang="ja-JP" altLang="en-US" dirty="0"/>
              <a:t>ファミリ</a:t>
            </a:r>
            <a:endParaRPr lang="en-US" altLang="ja-JP" dirty="0"/>
          </a:p>
          <a:p>
            <a:pPr lvl="1"/>
            <a:r>
              <a:rPr lang="en-US" altLang="ja-JP" dirty="0"/>
              <a:t>Uno R4 Minima</a:t>
            </a:r>
            <a:endParaRPr lang="ja-JP" altLang="en-US" dirty="0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B5DCE491-5774-DEAE-7F88-24B5950286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ja-JP" dirty="0"/>
              <a:t>MKR</a:t>
            </a:r>
            <a:r>
              <a:rPr lang="ja-JP" altLang="en-US" dirty="0"/>
              <a:t>ファミリ</a:t>
            </a:r>
            <a:endParaRPr lang="en-US" altLang="ja-JP" dirty="0"/>
          </a:p>
          <a:p>
            <a:pPr lvl="1"/>
            <a:r>
              <a:rPr lang="en-US" altLang="ja-JP" dirty="0"/>
              <a:t>MKR </a:t>
            </a:r>
            <a:r>
              <a:rPr lang="en-US" altLang="ja-JP" dirty="0" err="1"/>
              <a:t>WiFi</a:t>
            </a:r>
            <a:r>
              <a:rPr lang="en-US" altLang="ja-JP" dirty="0"/>
              <a:t> 1010</a:t>
            </a:r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Mega</a:t>
            </a:r>
            <a:r>
              <a:rPr lang="ja-JP" altLang="en-US" dirty="0"/>
              <a:t>ファミリ</a:t>
            </a:r>
            <a:endParaRPr lang="en-US" altLang="ja-JP" dirty="0"/>
          </a:p>
          <a:p>
            <a:pPr lvl="1"/>
            <a:r>
              <a:rPr lang="en-US" altLang="ja-JP" dirty="0"/>
              <a:t>Giga </a:t>
            </a:r>
            <a:r>
              <a:rPr lang="en-US" altLang="ja-JP" dirty="0" err="1"/>
              <a:t>WiFi</a:t>
            </a:r>
            <a:endParaRPr lang="ja-JP" altLang="en-US" dirty="0"/>
          </a:p>
        </p:txBody>
      </p:sp>
      <p:pic>
        <p:nvPicPr>
          <p:cNvPr id="2050" name="Picture 2" descr="Arduino Nano 33 IoT">
            <a:extLst>
              <a:ext uri="{FF2B5EF4-FFF2-40B4-BE49-F238E27FC236}">
                <a16:creationId xmlns:a16="http://schemas.microsoft.com/office/drawing/2014/main" id="{F05920F4-517C-3473-3CA0-2F5E56C600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2" t="25833" r="4454" b="25451"/>
          <a:stretch/>
        </p:blipFill>
        <p:spPr bwMode="auto">
          <a:xfrm>
            <a:off x="819343" y="1644523"/>
            <a:ext cx="1616407" cy="64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rduino MKR WiFi 1010">
            <a:extLst>
              <a:ext uri="{FF2B5EF4-FFF2-40B4-BE49-F238E27FC236}">
                <a16:creationId xmlns:a16="http://schemas.microsoft.com/office/drawing/2014/main" id="{5292393E-D588-9577-E163-CF6CB4E329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4" t="25946" r="5006" b="26295"/>
          <a:stretch/>
        </p:blipFill>
        <p:spPr bwMode="auto">
          <a:xfrm>
            <a:off x="5281612" y="1644523"/>
            <a:ext cx="1767803" cy="700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rduino® UNO R4 Minima">
            <a:extLst>
              <a:ext uri="{FF2B5EF4-FFF2-40B4-BE49-F238E27FC236}">
                <a16:creationId xmlns:a16="http://schemas.microsoft.com/office/drawing/2014/main" id="{A1A66C02-0D84-8071-BECC-118864BB54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8" t="6246" r="6088" b="6594"/>
          <a:stretch/>
        </p:blipFill>
        <p:spPr bwMode="auto">
          <a:xfrm>
            <a:off x="669969" y="3349927"/>
            <a:ext cx="2081271" cy="1549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rduino GIGA R1 WiFi">
            <a:extLst>
              <a:ext uri="{FF2B5EF4-FFF2-40B4-BE49-F238E27FC236}">
                <a16:creationId xmlns:a16="http://schemas.microsoft.com/office/drawing/2014/main" id="{9ED17A47-24DA-2DD9-6032-D26AD43B90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0" t="19123" r="4790" b="18992"/>
          <a:stretch/>
        </p:blipFill>
        <p:spPr bwMode="auto">
          <a:xfrm>
            <a:off x="5094683" y="3349927"/>
            <a:ext cx="3201390" cy="1650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763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05EB5B8B-8ED2-F26B-13B6-5920844E8393}"/>
              </a:ext>
            </a:extLst>
          </p:cNvPr>
          <p:cNvSpPr/>
          <p:nvPr/>
        </p:nvSpPr>
        <p:spPr>
          <a:xfrm>
            <a:off x="2136093" y="1150231"/>
            <a:ext cx="3038167" cy="2584458"/>
          </a:xfrm>
          <a:prstGeom prst="wedgeRectCallou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B960D0B-EE03-8113-9AED-BF7540B26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Arduino</a:t>
            </a:r>
            <a:r>
              <a:rPr kumimoji="1" lang="ja-JP" altLang="en-US" dirty="0"/>
              <a:t>におけるソフトウェア開発</a:t>
            </a:r>
          </a:p>
        </p:txBody>
      </p:sp>
      <p:pic>
        <p:nvPicPr>
          <p:cNvPr id="4" name="図 3" descr="グラフィカル ユーザー インターフェイス, テキスト, アプリケーション&#10;&#10;自動的に生成された説明">
            <a:extLst>
              <a:ext uri="{FF2B5EF4-FFF2-40B4-BE49-F238E27FC236}">
                <a16:creationId xmlns:a16="http://schemas.microsoft.com/office/drawing/2014/main" id="{78992F30-B548-F1BA-6F25-8237C4F08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535" y="1421632"/>
            <a:ext cx="2690570" cy="2149141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C5605662-9429-3A3F-2612-D28F7CB99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795" y="3734700"/>
            <a:ext cx="799148" cy="741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Arduino® UNO R4 Minima">
            <a:extLst>
              <a:ext uri="{FF2B5EF4-FFF2-40B4-BE49-F238E27FC236}">
                <a16:creationId xmlns:a16="http://schemas.microsoft.com/office/drawing/2014/main" id="{A09BA295-6736-370C-E220-6F86E3D41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8" t="6246" r="6088" b="6594"/>
          <a:stretch/>
        </p:blipFill>
        <p:spPr bwMode="auto">
          <a:xfrm>
            <a:off x="6772974" y="3873243"/>
            <a:ext cx="624381" cy="464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C1E31B5-B9E6-96FE-0ADA-290BD3F6D066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3543943" y="4105699"/>
            <a:ext cx="32290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74E8520-E3FA-B4C7-911B-5948C4009372}"/>
              </a:ext>
            </a:extLst>
          </p:cNvPr>
          <p:cNvSpPr txBox="1"/>
          <p:nvPr/>
        </p:nvSpPr>
        <p:spPr>
          <a:xfrm>
            <a:off x="2994992" y="1196280"/>
            <a:ext cx="1178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200" b="1" dirty="0"/>
              <a:t>Arduino IDE</a:t>
            </a:r>
            <a:endParaRPr kumimoji="1" lang="ja-JP" altLang="en-US" sz="1200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52D6D7D-3D44-9FD7-5131-1249F82F3CF8}"/>
              </a:ext>
            </a:extLst>
          </p:cNvPr>
          <p:cNvSpPr txBox="1"/>
          <p:nvPr/>
        </p:nvSpPr>
        <p:spPr>
          <a:xfrm>
            <a:off x="4026871" y="3819905"/>
            <a:ext cx="12682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400" dirty="0"/>
              <a:t>USB</a:t>
            </a:r>
            <a:r>
              <a:rPr kumimoji="1" lang="ja-JP" altLang="en-US" sz="1400" dirty="0"/>
              <a:t>ケーブル</a:t>
            </a:r>
            <a:endParaRPr kumimoji="1" lang="en-US" altLang="ja-JP" sz="14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B7E8645-AAFE-E2F4-6401-B8498AE0E466}"/>
              </a:ext>
            </a:extLst>
          </p:cNvPr>
          <p:cNvSpPr txBox="1"/>
          <p:nvPr/>
        </p:nvSpPr>
        <p:spPr>
          <a:xfrm>
            <a:off x="3754528" y="4136477"/>
            <a:ext cx="2781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200" dirty="0"/>
              <a:t>(</a:t>
            </a:r>
            <a:r>
              <a:rPr kumimoji="1" lang="ja-JP" altLang="en-US" sz="1200" dirty="0"/>
              <a:t>シリアル通信兼プログラム書き込み</a:t>
            </a:r>
            <a:r>
              <a:rPr kumimoji="1" lang="en-US" altLang="ja-JP" sz="1200" dirty="0"/>
              <a:t>)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0C9A324-3682-8A9E-4B25-36216090790B}"/>
              </a:ext>
            </a:extLst>
          </p:cNvPr>
          <p:cNvSpPr txBox="1"/>
          <p:nvPr/>
        </p:nvSpPr>
        <p:spPr>
          <a:xfrm>
            <a:off x="6602933" y="3640789"/>
            <a:ext cx="1072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200" dirty="0"/>
              <a:t>Arduino</a:t>
            </a:r>
            <a:r>
              <a:rPr kumimoji="1" lang="ja-JP" altLang="en-US" sz="1200" dirty="0"/>
              <a:t>本体</a:t>
            </a:r>
            <a:endParaRPr kumimoji="1" lang="en-US" altLang="ja-JP" sz="12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19738C0-6F46-359C-82FB-AEE733FFEAF1}"/>
              </a:ext>
            </a:extLst>
          </p:cNvPr>
          <p:cNvSpPr txBox="1"/>
          <p:nvPr/>
        </p:nvSpPr>
        <p:spPr>
          <a:xfrm>
            <a:off x="2912631" y="4452010"/>
            <a:ext cx="841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開発用</a:t>
            </a:r>
            <a:r>
              <a:rPr kumimoji="1" lang="en-US" altLang="ja-JP" sz="1200" dirty="0"/>
              <a:t>PC</a:t>
            </a:r>
          </a:p>
        </p:txBody>
      </p:sp>
      <p:sp>
        <p:nvSpPr>
          <p:cNvPr id="19" name="吹き出し: 四角形 18">
            <a:extLst>
              <a:ext uri="{FF2B5EF4-FFF2-40B4-BE49-F238E27FC236}">
                <a16:creationId xmlns:a16="http://schemas.microsoft.com/office/drawing/2014/main" id="{25D83CB8-C1BB-8726-B29A-21A58A58F087}"/>
              </a:ext>
            </a:extLst>
          </p:cNvPr>
          <p:cNvSpPr/>
          <p:nvPr/>
        </p:nvSpPr>
        <p:spPr>
          <a:xfrm>
            <a:off x="234000" y="962221"/>
            <a:ext cx="1892161" cy="515543"/>
          </a:xfrm>
          <a:prstGeom prst="wedgeRectCallout">
            <a:avLst>
              <a:gd name="adj1" fmla="val 66886"/>
              <a:gd name="adj2" fmla="val 64720"/>
            </a:avLst>
          </a:prstGeom>
          <a:solidFill>
            <a:srgbClr val="FFFFE7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「インストール」ボタンで</a:t>
            </a:r>
            <a:endParaRPr kumimoji="1" lang="en-US" altLang="ja-JP" sz="1100" dirty="0">
              <a:solidFill>
                <a:schemeClr val="tx1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algn="ctr"/>
            <a:r>
              <a:rPr kumimoji="1" lang="ja-JP" altLang="en-US" sz="1100" dirty="0">
                <a:solidFill>
                  <a:schemeClr val="tx1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コンパイルとインストール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09D0F90-E0D8-4501-EB5E-8271D30EEB14}"/>
              </a:ext>
            </a:extLst>
          </p:cNvPr>
          <p:cNvSpPr/>
          <p:nvPr/>
        </p:nvSpPr>
        <p:spPr>
          <a:xfrm>
            <a:off x="5640862" y="1150231"/>
            <a:ext cx="2996872" cy="886078"/>
          </a:xfrm>
          <a:prstGeom prst="roundRect">
            <a:avLst/>
          </a:prstGeom>
          <a:solidFill>
            <a:srgbClr val="FFE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</a:rPr>
              <a:t>注 </a:t>
            </a:r>
            <a:r>
              <a:rPr kumimoji="1" lang="en-US" altLang="ja-JP" sz="1400" dirty="0">
                <a:solidFill>
                  <a:schemeClr val="tx1"/>
                </a:solidFill>
              </a:rPr>
              <a:t>: Arduino</a:t>
            </a:r>
            <a:r>
              <a:rPr kumimoji="1" lang="ja-JP" altLang="en-US" sz="1400" dirty="0">
                <a:solidFill>
                  <a:schemeClr val="tx1"/>
                </a:solidFill>
              </a:rPr>
              <a:t>ではプログラムの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r>
              <a:rPr kumimoji="1" lang="ja-JP" altLang="en-US" sz="1400" dirty="0">
                <a:solidFill>
                  <a:schemeClr val="tx1"/>
                </a:solidFill>
              </a:rPr>
              <a:t>      ことをスケッチと呼ぶ</a:t>
            </a:r>
          </a:p>
        </p:txBody>
      </p:sp>
    </p:spTree>
    <p:extLst>
      <p:ext uri="{BB962C8B-B14F-4D97-AF65-F5344CB8AC3E}">
        <p14:creationId xmlns:p14="http://schemas.microsoft.com/office/powerpoint/2010/main" val="2557095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18422E-EB8D-D03D-31A8-1DDEABEE0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Arduino</a:t>
            </a:r>
            <a:r>
              <a:rPr lang="ja-JP" altLang="en-US" dirty="0"/>
              <a:t>に搭載されている</a:t>
            </a:r>
            <a:r>
              <a:rPr lang="en-US" altLang="ja-JP" dirty="0"/>
              <a:t>MCU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8C03D72-22B8-1D1B-1F72-F2247C896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近年発売されたものは大部分が</a:t>
            </a:r>
            <a:r>
              <a:rPr lang="en-US" altLang="ja-JP" dirty="0"/>
              <a:t>ARM</a:t>
            </a:r>
            <a:r>
              <a:rPr lang="ja-JP" altLang="en-US" dirty="0"/>
              <a:t>コアのもの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9D4AEC27-2315-0204-73F8-6A2FE14E5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472209"/>
              </p:ext>
            </p:extLst>
          </p:nvPr>
        </p:nvGraphicFramePr>
        <p:xfrm>
          <a:off x="644199" y="1424494"/>
          <a:ext cx="8036879" cy="2357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48168">
                  <a:extLst>
                    <a:ext uri="{9D8B030D-6E8A-4147-A177-3AD203B41FA5}">
                      <a16:colId xmlns:a16="http://schemas.microsoft.com/office/drawing/2014/main" val="236262387"/>
                    </a:ext>
                  </a:extLst>
                </a:gridCol>
                <a:gridCol w="2126806">
                  <a:extLst>
                    <a:ext uri="{9D8B030D-6E8A-4147-A177-3AD203B41FA5}">
                      <a16:colId xmlns:a16="http://schemas.microsoft.com/office/drawing/2014/main" val="92894559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74138776"/>
                    </a:ext>
                  </a:extLst>
                </a:gridCol>
                <a:gridCol w="2537905">
                  <a:extLst>
                    <a:ext uri="{9D8B030D-6E8A-4147-A177-3AD203B41FA5}">
                      <a16:colId xmlns:a16="http://schemas.microsoft.com/office/drawing/2014/main" val="959828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MCU</a:t>
                      </a:r>
                      <a:r>
                        <a:rPr kumimoji="1" lang="ja-JP" altLang="en-US" dirty="0"/>
                        <a:t>アーキテクチャ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コア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ベンダ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代表的な機種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174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AVR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独自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Atmel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Uno R3, Mega2560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898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SAM 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ARM Cortex M0+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Microchip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Nano, MKR</a:t>
                      </a:r>
                      <a:r>
                        <a:rPr kumimoji="1" lang="ja-JP" altLang="en-US" dirty="0"/>
                        <a:t>ファミリの大部分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79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RA4M1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ARM Cortex 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ルネサス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Uno R4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831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STM32H7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ARM Cortex M7</a:t>
                      </a:r>
                      <a:r>
                        <a:rPr kumimoji="1" lang="ja-JP" altLang="en-US" dirty="0"/>
                        <a:t>と</a:t>
                      </a:r>
                      <a:r>
                        <a:rPr kumimoji="1" lang="en-US" altLang="ja-JP" dirty="0"/>
                        <a:t>M4</a:t>
                      </a:r>
                      <a:r>
                        <a:rPr kumimoji="1" lang="ja-JP" altLang="en-US" dirty="0"/>
                        <a:t>の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デュアルコア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Giga R1 </a:t>
                      </a:r>
                      <a:r>
                        <a:rPr kumimoji="1" lang="en-US" altLang="ja-JP" dirty="0" err="1"/>
                        <a:t>WiFi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71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ESP32-S3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XTensa</a:t>
                      </a:r>
                      <a:r>
                        <a:rPr kumimoji="1" lang="en-US" altLang="ja-JP" dirty="0"/>
                        <a:t> LX7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Espressif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Nano ESP32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942041"/>
                  </a:ext>
                </a:extLst>
              </a:tr>
            </a:tbl>
          </a:graphicData>
        </a:graphic>
      </p:graphicFrame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7D33965-9C1C-5AE9-7369-E79756E7B104}"/>
              </a:ext>
            </a:extLst>
          </p:cNvPr>
          <p:cNvSpPr/>
          <p:nvPr/>
        </p:nvSpPr>
        <p:spPr>
          <a:xfrm>
            <a:off x="507468" y="2484679"/>
            <a:ext cx="8248750" cy="1378781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rgbClr val="FF0000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7893C6D-1E40-1AD2-C4AA-C9D4CE5A5C87}"/>
              </a:ext>
            </a:extLst>
          </p:cNvPr>
          <p:cNvSpPr txBox="1"/>
          <p:nvPr/>
        </p:nvSpPr>
        <p:spPr>
          <a:xfrm>
            <a:off x="3341716" y="3910906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dirty="0">
                <a:solidFill>
                  <a:srgbClr val="FF0000"/>
                </a:solidFill>
              </a:rPr>
              <a:t>今回使用する機種</a:t>
            </a:r>
          </a:p>
        </p:txBody>
      </p:sp>
    </p:spTree>
    <p:extLst>
      <p:ext uri="{BB962C8B-B14F-4D97-AF65-F5344CB8AC3E}">
        <p14:creationId xmlns:p14="http://schemas.microsoft.com/office/powerpoint/2010/main" val="714215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B6EEE5-59F9-F69E-6210-4D757CFD9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Arduino</a:t>
            </a:r>
            <a:r>
              <a:rPr kumimoji="1" lang="ja-JP" altLang="en-US" dirty="0"/>
              <a:t>互換機</a:t>
            </a:r>
            <a:r>
              <a:rPr kumimoji="1" lang="en-US" altLang="ja-JP" dirty="0"/>
              <a:t>(</a:t>
            </a:r>
            <a:r>
              <a:rPr kumimoji="1" lang="ja-JP" altLang="en-US" dirty="0"/>
              <a:t>完全互換以外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E2498C2-3DDE-3ECA-AAF0-E2FB02D6A5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ja-JP" altLang="en-US" dirty="0"/>
              <a:t>中身はほぼ</a:t>
            </a:r>
            <a:r>
              <a:rPr lang="en-US" altLang="ja-JP" dirty="0"/>
              <a:t>Arduino</a:t>
            </a:r>
            <a:r>
              <a:rPr lang="ja-JP" altLang="en-US" dirty="0"/>
              <a:t>でピン配置などが違う物</a:t>
            </a:r>
            <a:endParaRPr lang="en-US" altLang="ja-JP" dirty="0"/>
          </a:p>
          <a:p>
            <a:pPr lvl="1"/>
            <a:r>
              <a:rPr lang="en-US" altLang="ja-JP" dirty="0"/>
              <a:t>IDE : Arduino IDE</a:t>
            </a:r>
            <a:r>
              <a:rPr lang="ja-JP" altLang="en-US" dirty="0"/>
              <a:t>へプラグインを追加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E6AD8B23-56A8-02B7-63C0-C6F6CF99F6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altLang="en-US" dirty="0"/>
              <a:t>自社</a:t>
            </a:r>
            <a:r>
              <a:rPr lang="en-US" altLang="ja-JP" dirty="0"/>
              <a:t>MCU</a:t>
            </a:r>
            <a:r>
              <a:rPr lang="ja-JP" altLang="en-US" dirty="0"/>
              <a:t>を</a:t>
            </a:r>
            <a:r>
              <a:rPr lang="en-US" altLang="ja-JP" dirty="0"/>
              <a:t>Arduino</a:t>
            </a:r>
            <a:r>
              <a:rPr lang="ja-JP" altLang="en-US" dirty="0"/>
              <a:t>風にした物</a:t>
            </a:r>
            <a:endParaRPr lang="en-US" altLang="ja-JP" dirty="0"/>
          </a:p>
          <a:p>
            <a:pPr lvl="1"/>
            <a:r>
              <a:rPr lang="en-US" altLang="ja-JP" dirty="0"/>
              <a:t>IDE :</a:t>
            </a:r>
            <a:r>
              <a:rPr lang="ja-JP" altLang="en-US" dirty="0"/>
              <a:t> </a:t>
            </a:r>
            <a:r>
              <a:rPr lang="en-US" altLang="ja-JP" dirty="0" err="1"/>
              <a:t>ArduinoIDE</a:t>
            </a:r>
            <a:r>
              <a:rPr lang="ja-JP" altLang="en-US" dirty="0"/>
              <a:t>を改造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B299CE8-36C5-219B-C02F-409A289083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631" t="4324" r="23958" b="3808"/>
          <a:stretch/>
        </p:blipFill>
        <p:spPr>
          <a:xfrm rot="5400000">
            <a:off x="1565078" y="2331578"/>
            <a:ext cx="1469069" cy="2625128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CC210562-0BA4-4FF3-2981-DFCA3847A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7071" y="2187803"/>
            <a:ext cx="2849880" cy="230124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8EA9D4B-C8A2-652B-677D-FEDD18117E27}"/>
              </a:ext>
            </a:extLst>
          </p:cNvPr>
          <p:cNvSpPr txBox="1"/>
          <p:nvPr/>
        </p:nvSpPr>
        <p:spPr>
          <a:xfrm>
            <a:off x="5565893" y="1818471"/>
            <a:ext cx="2577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dirty="0"/>
              <a:t>ルネサス </a:t>
            </a:r>
            <a:r>
              <a:rPr kumimoji="1" lang="en-US" altLang="ja-JP" dirty="0"/>
              <a:t>: GR-</a:t>
            </a:r>
            <a:r>
              <a:rPr kumimoji="1" lang="en-US" altLang="ja-JP" dirty="0" err="1"/>
              <a:t>kurumi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CF02DA6-96B0-B160-ED19-CAD14E8F30AE}"/>
              </a:ext>
            </a:extLst>
          </p:cNvPr>
          <p:cNvSpPr txBox="1"/>
          <p:nvPr/>
        </p:nvSpPr>
        <p:spPr>
          <a:xfrm>
            <a:off x="704950" y="2571751"/>
            <a:ext cx="3321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dirty="0" err="1"/>
              <a:t>Sparcfun</a:t>
            </a:r>
            <a:r>
              <a:rPr kumimoji="1" lang="ja-JP" altLang="en-US" dirty="0"/>
              <a:t> </a:t>
            </a:r>
            <a:r>
              <a:rPr kumimoji="1" lang="en-US" altLang="ja-JP" dirty="0"/>
              <a:t>: Arduino Pro mini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5822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ED5D09F-E85C-A062-B6F0-C3BB9B619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873" y="1673530"/>
            <a:ext cx="1378744" cy="103441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47274BD-6DEE-5447-1914-24792C9D2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周辺回路接続 </a:t>
            </a:r>
            <a:r>
              <a:rPr kumimoji="1" lang="en-US" altLang="ja-JP" dirty="0"/>
              <a:t>(1) : </a:t>
            </a:r>
            <a:r>
              <a:rPr kumimoji="1" lang="ja-JP" altLang="en-US" dirty="0"/>
              <a:t>シールド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945B1C4-E024-E78A-B663-C2F2B27EE3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ja-JP" dirty="0"/>
              <a:t>Arduino</a:t>
            </a:r>
            <a:r>
              <a:rPr lang="ja-JP" altLang="en-US" dirty="0"/>
              <a:t>へ積み重ねる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EDB32684-2E21-DFEC-1CD3-74B925F6B7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altLang="en-US" dirty="0"/>
              <a:t>入手方法</a:t>
            </a:r>
            <a:r>
              <a:rPr lang="en-US" altLang="ja-JP" dirty="0"/>
              <a:t>(1) : </a:t>
            </a:r>
            <a:r>
              <a:rPr lang="ja-JP" altLang="en-US" dirty="0"/>
              <a:t>購入</a:t>
            </a:r>
            <a:endParaRPr lang="en-US" altLang="ja-JP" dirty="0"/>
          </a:p>
          <a:p>
            <a:pPr lvl="1"/>
            <a:r>
              <a:rPr lang="en-US" altLang="ja-JP" dirty="0" err="1"/>
              <a:t>Aruino</a:t>
            </a:r>
            <a:r>
              <a:rPr lang="en-US" altLang="ja-JP" dirty="0"/>
              <a:t> </a:t>
            </a:r>
            <a:r>
              <a:rPr lang="ja-JP" altLang="en-US" dirty="0"/>
              <a:t>イーサネットシールド</a:t>
            </a:r>
            <a:r>
              <a:rPr lang="en-US" altLang="ja-JP" dirty="0"/>
              <a:t>rev2</a:t>
            </a:r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入手方法</a:t>
            </a:r>
            <a:r>
              <a:rPr lang="en-US" altLang="ja-JP" dirty="0"/>
              <a:t>(2) : </a:t>
            </a:r>
            <a:r>
              <a:rPr lang="ja-JP" altLang="en-US" dirty="0"/>
              <a:t>自分で設計・制作</a:t>
            </a:r>
            <a:endParaRPr lang="en-US" altLang="ja-JP" dirty="0"/>
          </a:p>
          <a:p>
            <a:pPr lvl="1"/>
            <a:r>
              <a:rPr lang="en-US" altLang="ja-JP" dirty="0"/>
              <a:t>Arduino Proto</a:t>
            </a:r>
            <a:r>
              <a:rPr lang="ja-JP" altLang="en-US" dirty="0"/>
              <a:t>シールド基板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014149F-504B-D80A-B269-E2FAD712E5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184" r="25000"/>
          <a:stretch/>
        </p:blipFill>
        <p:spPr>
          <a:xfrm rot="16200000">
            <a:off x="5594730" y="3694832"/>
            <a:ext cx="970920" cy="1379220"/>
          </a:xfrm>
          <a:prstGeom prst="rect">
            <a:avLst/>
          </a:prstGeom>
        </p:spPr>
      </p:pic>
      <p:pic>
        <p:nvPicPr>
          <p:cNvPr id="6" name="図 5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615B2602-5DF5-2E7B-2D0A-DB5CB2E2D4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48" y="2705295"/>
            <a:ext cx="3168015" cy="1487805"/>
          </a:xfrm>
          <a:prstGeom prst="rect">
            <a:avLst/>
          </a:prstGeom>
        </p:spPr>
      </p:pic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D456843D-D72A-3017-46D8-ED8C44C81F2D}"/>
              </a:ext>
            </a:extLst>
          </p:cNvPr>
          <p:cNvSpPr/>
          <p:nvPr/>
        </p:nvSpPr>
        <p:spPr>
          <a:xfrm>
            <a:off x="250825" y="1807581"/>
            <a:ext cx="1797695" cy="766314"/>
          </a:xfrm>
          <a:prstGeom prst="wedgeRectCallout">
            <a:avLst>
              <a:gd name="adj1" fmla="val 985"/>
              <a:gd name="adj2" fmla="val 76449"/>
            </a:avLst>
          </a:prstGeom>
          <a:solidFill>
            <a:srgbClr val="FFFFE7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MKR</a:t>
            </a:r>
            <a:r>
              <a:rPr kumimoji="1" lang="ja-JP" altLang="en-US" sz="1200" dirty="0">
                <a:solidFill>
                  <a:schemeClr val="tx1"/>
                </a:solidFill>
              </a:rPr>
              <a:t>ファミリ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イーサネットシールド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81A79BCE-A1AA-808D-5A10-6571EFA0DD0E}"/>
              </a:ext>
            </a:extLst>
          </p:cNvPr>
          <p:cNvSpPr/>
          <p:nvPr/>
        </p:nvSpPr>
        <p:spPr>
          <a:xfrm>
            <a:off x="2368015" y="1809218"/>
            <a:ext cx="1797695" cy="766314"/>
          </a:xfrm>
          <a:prstGeom prst="wedgeRectCallout">
            <a:avLst>
              <a:gd name="adj1" fmla="val 985"/>
              <a:gd name="adj2" fmla="val 76449"/>
            </a:avLst>
          </a:prstGeom>
          <a:solidFill>
            <a:srgbClr val="FFFFE7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Classic</a:t>
            </a:r>
            <a:r>
              <a:rPr kumimoji="1" lang="ja-JP" altLang="en-US" sz="1200" dirty="0">
                <a:solidFill>
                  <a:schemeClr val="tx1"/>
                </a:solidFill>
              </a:rPr>
              <a:t>ファミリ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イーサネットシールド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2" name="フローチャート: 代替処理 11">
            <a:extLst>
              <a:ext uri="{FF2B5EF4-FFF2-40B4-BE49-F238E27FC236}">
                <a16:creationId xmlns:a16="http://schemas.microsoft.com/office/drawing/2014/main" id="{BECEB80A-24BA-CF15-2A4E-A31CA95A2335}"/>
              </a:ext>
            </a:extLst>
          </p:cNvPr>
          <p:cNvSpPr/>
          <p:nvPr/>
        </p:nvSpPr>
        <p:spPr>
          <a:xfrm>
            <a:off x="7033466" y="1912826"/>
            <a:ext cx="1995334" cy="792469"/>
          </a:xfrm>
          <a:prstGeom prst="flowChartAlternateProcess">
            <a:avLst/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キットになっていて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はんだ付けが必要な場合もある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CC5FBEC-D358-A8F7-97A6-1F2FC36B00FA}"/>
              </a:ext>
            </a:extLst>
          </p:cNvPr>
          <p:cNvSpPr txBox="1"/>
          <p:nvPr/>
        </p:nvSpPr>
        <p:spPr>
          <a:xfrm>
            <a:off x="6807666" y="4110606"/>
            <a:ext cx="1372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dirty="0"/>
              <a:t>+ </a:t>
            </a:r>
            <a:r>
              <a:rPr kumimoji="1" lang="ja-JP" altLang="en-US" dirty="0"/>
              <a:t>電子部品</a:t>
            </a:r>
          </a:p>
        </p:txBody>
      </p:sp>
    </p:spTree>
    <p:extLst>
      <p:ext uri="{BB962C8B-B14F-4D97-AF65-F5344CB8AC3E}">
        <p14:creationId xmlns:p14="http://schemas.microsoft.com/office/powerpoint/2010/main" val="10305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レゴ, おもちゃ が含まれている画像&#10;&#10;自動的に生成された説明">
            <a:extLst>
              <a:ext uri="{FF2B5EF4-FFF2-40B4-BE49-F238E27FC236}">
                <a16:creationId xmlns:a16="http://schemas.microsoft.com/office/drawing/2014/main" id="{5FC3180C-B182-3872-2428-3368E9ADB6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70" r="23455"/>
          <a:stretch/>
        </p:blipFill>
        <p:spPr>
          <a:xfrm>
            <a:off x="250825" y="1835919"/>
            <a:ext cx="2222850" cy="2602230"/>
          </a:xfrm>
          <a:prstGeom prst="rect">
            <a:avLst/>
          </a:prstGeom>
        </p:spPr>
      </p:pic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A638752E-6D7A-408C-27C0-2F13D18BB706}"/>
              </a:ext>
            </a:extLst>
          </p:cNvPr>
          <p:cNvSpPr/>
          <p:nvPr/>
        </p:nvSpPr>
        <p:spPr>
          <a:xfrm>
            <a:off x="2557287" y="2753877"/>
            <a:ext cx="1797695" cy="766314"/>
          </a:xfrm>
          <a:prstGeom prst="wedgeRectCallout">
            <a:avLst>
              <a:gd name="adj1" fmla="val -72426"/>
              <a:gd name="adj2" fmla="val 5499"/>
            </a:avLst>
          </a:prstGeom>
          <a:solidFill>
            <a:srgbClr val="FFFFE7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Classic</a:t>
            </a:r>
            <a:r>
              <a:rPr kumimoji="1" lang="ja-JP" altLang="en-US" sz="1200" dirty="0">
                <a:solidFill>
                  <a:schemeClr val="tx1"/>
                </a:solidFill>
              </a:rPr>
              <a:t>ファミリ互換機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Grove</a:t>
            </a:r>
            <a:r>
              <a:rPr kumimoji="1" lang="ja-JP" altLang="en-US" sz="1200" dirty="0">
                <a:solidFill>
                  <a:schemeClr val="tx1"/>
                </a:solidFill>
              </a:rPr>
              <a:t>シールド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F8F19AAB-C297-2524-26DA-4E0CA7578F4A}"/>
              </a:ext>
            </a:extLst>
          </p:cNvPr>
          <p:cNvSpPr/>
          <p:nvPr/>
        </p:nvSpPr>
        <p:spPr>
          <a:xfrm>
            <a:off x="1731031" y="3966024"/>
            <a:ext cx="2157265" cy="766314"/>
          </a:xfrm>
          <a:prstGeom prst="wedgeRectCallout">
            <a:avLst>
              <a:gd name="adj1" fmla="val -68405"/>
              <a:gd name="adj2" fmla="val -86091"/>
            </a:avLst>
          </a:prstGeom>
          <a:solidFill>
            <a:srgbClr val="FFFFE7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r>
              <a:rPr kumimoji="1" lang="ja-JP" altLang="en-US" sz="1200" dirty="0">
                <a:solidFill>
                  <a:schemeClr val="tx1"/>
                </a:solidFill>
              </a:rPr>
              <a:t>つのコネクタ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r>
              <a:rPr kumimoji="1" lang="en-US" altLang="ja-JP" sz="1200" dirty="0">
                <a:solidFill>
                  <a:schemeClr val="tx1"/>
                </a:solidFill>
              </a:rPr>
              <a:t> = </a:t>
            </a:r>
            <a:r>
              <a:rPr kumimoji="1" lang="en-US" altLang="ja-JP" sz="1200" dirty="0" err="1">
                <a:solidFill>
                  <a:schemeClr val="tx1"/>
                </a:solidFill>
              </a:rPr>
              <a:t>Aruduino</a:t>
            </a:r>
            <a:r>
              <a:rPr kumimoji="1" lang="ja-JP" altLang="en-US" sz="1200" dirty="0">
                <a:solidFill>
                  <a:schemeClr val="tx1"/>
                </a:solidFill>
              </a:rPr>
              <a:t>の信号端子✕</a:t>
            </a:r>
            <a:r>
              <a:rPr kumimoji="1" lang="en-US" altLang="ja-JP" sz="1200" dirty="0">
                <a:solidFill>
                  <a:schemeClr val="tx1"/>
                </a:solidFill>
              </a:rPr>
              <a:t>2</a:t>
            </a:r>
          </a:p>
          <a:p>
            <a:r>
              <a:rPr kumimoji="1" lang="en-US" altLang="ja-JP" sz="1200" dirty="0">
                <a:solidFill>
                  <a:schemeClr val="tx1"/>
                </a:solidFill>
              </a:rPr>
              <a:t>    + </a:t>
            </a:r>
            <a:r>
              <a:rPr kumimoji="1" lang="ja-JP" altLang="en-US" sz="1200" dirty="0">
                <a:solidFill>
                  <a:schemeClr val="tx1"/>
                </a:solidFill>
              </a:rPr>
              <a:t>電源</a:t>
            </a:r>
            <a:r>
              <a:rPr kumimoji="1" lang="en-US" altLang="ja-JP" sz="1200" dirty="0">
                <a:solidFill>
                  <a:schemeClr val="tx1"/>
                </a:solidFill>
              </a:rPr>
              <a:t>/</a:t>
            </a:r>
            <a:r>
              <a:rPr kumimoji="1" lang="ja-JP" altLang="en-US" sz="1200" dirty="0">
                <a:solidFill>
                  <a:schemeClr val="tx1"/>
                </a:solidFill>
              </a:rPr>
              <a:t>アース端子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145145C-0051-CB5A-B279-E55726BE3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周辺回路接続 </a:t>
            </a:r>
            <a:r>
              <a:rPr kumimoji="1" lang="en-US" altLang="ja-JP" dirty="0"/>
              <a:t>(2) : Grove System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659002CC-085E-E3A6-EAC5-632FE0E20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中国の</a:t>
            </a:r>
            <a:r>
              <a:rPr lang="en-US" altLang="ja-JP" dirty="0" err="1"/>
              <a:t>Seeed</a:t>
            </a:r>
            <a:r>
              <a:rPr lang="en-US" altLang="ja-JP" dirty="0"/>
              <a:t> Studio</a:t>
            </a:r>
            <a:r>
              <a:rPr lang="ja-JP" altLang="en-US" dirty="0"/>
              <a:t>社が販売する</a:t>
            </a:r>
            <a:r>
              <a:rPr lang="en-US" altLang="ja-JP" dirty="0"/>
              <a:t>Arduino</a:t>
            </a:r>
            <a:r>
              <a:rPr lang="ja-JP" altLang="en-US" dirty="0"/>
              <a:t>用シールド</a:t>
            </a:r>
            <a:endParaRPr lang="en-US" altLang="ja-JP" dirty="0"/>
          </a:p>
          <a:p>
            <a:pPr lvl="1"/>
            <a:r>
              <a:rPr lang="ja-JP" altLang="en-US" dirty="0"/>
              <a:t>配線が簡単になるよう，周辺回路接続に必要な端子が</a:t>
            </a:r>
            <a:r>
              <a:rPr lang="en-US" altLang="ja-JP" dirty="0"/>
              <a:t>1</a:t>
            </a:r>
            <a:r>
              <a:rPr lang="ja-JP" altLang="en-US" dirty="0"/>
              <a:t>つのコネクタにまとめられており，ケーブル一本で配線が完了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4EEB150-F6AB-4206-D538-D4F1B2CD7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831" y="2753877"/>
            <a:ext cx="2095500" cy="1571625"/>
          </a:xfrm>
          <a:prstGeom prst="rect">
            <a:avLst/>
          </a:prstGeom>
        </p:spPr>
      </p:pic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44D5FBE8-ADB3-6349-20C5-5FB214B3BDCD}"/>
              </a:ext>
            </a:extLst>
          </p:cNvPr>
          <p:cNvSpPr/>
          <p:nvPr/>
        </p:nvSpPr>
        <p:spPr>
          <a:xfrm>
            <a:off x="6264914" y="4296268"/>
            <a:ext cx="1349806" cy="243027"/>
          </a:xfrm>
          <a:prstGeom prst="wedgeRectCallout">
            <a:avLst>
              <a:gd name="adj1" fmla="val 13935"/>
              <a:gd name="adj2" fmla="val -135981"/>
            </a:avLst>
          </a:prstGeom>
          <a:solidFill>
            <a:srgbClr val="FFFFE7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dirty="0">
                <a:solidFill>
                  <a:schemeClr val="tx1"/>
                </a:solidFill>
              </a:rPr>
              <a:t>Grove</a:t>
            </a:r>
            <a:r>
              <a:rPr kumimoji="1" lang="ja-JP" altLang="en-US" sz="1200" dirty="0">
                <a:solidFill>
                  <a:schemeClr val="tx1"/>
                </a:solidFill>
              </a:rPr>
              <a:t>コネクタ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25F47D2-6445-AF25-6CA3-CAD322AB067C}"/>
              </a:ext>
            </a:extLst>
          </p:cNvPr>
          <p:cNvSpPr txBox="1"/>
          <p:nvPr/>
        </p:nvSpPr>
        <p:spPr>
          <a:xfrm>
            <a:off x="4974871" y="2386497"/>
            <a:ext cx="41024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400" dirty="0"/>
              <a:t>Arduino</a:t>
            </a:r>
            <a:r>
              <a:rPr kumimoji="1" lang="ja-JP" altLang="en-US" sz="1400" dirty="0"/>
              <a:t>公式もマネをした</a:t>
            </a:r>
            <a:r>
              <a:rPr kumimoji="1" lang="en-US" altLang="ja-JP" sz="1400" dirty="0"/>
              <a:t>(MKR</a:t>
            </a:r>
            <a:r>
              <a:rPr kumimoji="1" lang="ja-JP" altLang="en-US" sz="1400" dirty="0"/>
              <a:t>ファミリ用のみ</a:t>
            </a:r>
            <a:r>
              <a:rPr kumimoji="1" lang="en-US" altLang="ja-JP" sz="1400" dirty="0"/>
              <a:t>)</a:t>
            </a:r>
          </a:p>
          <a:p>
            <a:pPr algn="l"/>
            <a:r>
              <a:rPr kumimoji="1" lang="en-US" altLang="ja-JP" sz="1400" dirty="0"/>
              <a:t>Arduino MKR Connector Carrier</a:t>
            </a:r>
            <a:endParaRPr kumimoji="1" lang="ja-JP" altLang="en-US" sz="1400" dirty="0"/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308B07FB-B477-DF0C-2904-ADB1F1011B4F}"/>
              </a:ext>
            </a:extLst>
          </p:cNvPr>
          <p:cNvSpPr/>
          <p:nvPr/>
        </p:nvSpPr>
        <p:spPr>
          <a:xfrm>
            <a:off x="7075287" y="3277097"/>
            <a:ext cx="1817888" cy="460445"/>
          </a:xfrm>
          <a:prstGeom prst="wedgeRectCallout">
            <a:avLst>
              <a:gd name="adj1" fmla="val -60835"/>
              <a:gd name="adj2" fmla="val -44736"/>
            </a:avLst>
          </a:prstGeom>
          <a:solidFill>
            <a:srgbClr val="FFFFE7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ここに</a:t>
            </a:r>
            <a:r>
              <a:rPr kumimoji="1" lang="en-US" altLang="ja-JP" sz="1200" dirty="0">
                <a:solidFill>
                  <a:schemeClr val="tx1"/>
                </a:solidFill>
              </a:rPr>
              <a:t>MKR</a:t>
            </a:r>
            <a:r>
              <a:rPr kumimoji="1" lang="ja-JP" altLang="en-US" sz="1200" dirty="0">
                <a:solidFill>
                  <a:schemeClr val="tx1"/>
                </a:solidFill>
              </a:rPr>
              <a:t>ファミリの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本体を挿入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380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21FDCF-10D0-F66E-9241-6FAEE7AFE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周辺回路接続 </a:t>
            </a:r>
            <a:r>
              <a:rPr kumimoji="1" lang="en-US" altLang="ja-JP" dirty="0"/>
              <a:t>(3) : Grove System</a:t>
            </a:r>
            <a:endParaRPr kumimoji="1" lang="ja-JP" altLang="en-US" dirty="0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65F9255B-B11F-3A63-C9EA-7E0F46F3E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400" y="950399"/>
            <a:ext cx="8679600" cy="2465285"/>
          </a:xfrm>
        </p:spPr>
        <p:txBody>
          <a:bodyPr>
            <a:normAutofit/>
          </a:bodyPr>
          <a:lstStyle/>
          <a:p>
            <a:r>
              <a:rPr lang="ja-JP" altLang="en-US" dirty="0"/>
              <a:t>接続方法</a:t>
            </a:r>
            <a:endParaRPr lang="en-US" altLang="ja-JP" dirty="0"/>
          </a:p>
          <a:p>
            <a:pPr lvl="1"/>
            <a:r>
              <a:rPr lang="ja-JP" altLang="en-US" dirty="0"/>
              <a:t>周辺回路の端子と</a:t>
            </a:r>
            <a:r>
              <a:rPr lang="en-US" altLang="ja-JP" dirty="0"/>
              <a:t>Arduino</a:t>
            </a:r>
            <a:r>
              <a:rPr lang="ja-JP" altLang="en-US" dirty="0"/>
              <a:t>用の</a:t>
            </a:r>
            <a:r>
              <a:rPr lang="en-US" altLang="ja-JP" dirty="0"/>
              <a:t>Grove</a:t>
            </a:r>
            <a:r>
              <a:rPr lang="ja-JP" altLang="en-US" dirty="0"/>
              <a:t>シールドのコネクタを専用ケーブルで接続</a:t>
            </a:r>
            <a:endParaRPr lang="en-US" altLang="ja-JP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5F3FFEC-E98F-62F2-7E14-AB166420A2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85" t="11824" r="17951" b="11193"/>
          <a:stretch/>
        </p:blipFill>
        <p:spPr>
          <a:xfrm>
            <a:off x="849440" y="2259845"/>
            <a:ext cx="1375404" cy="1231882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D45482DB-6D2D-7C23-DAC7-130651091E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883" t="28253" r="21075" b="27832"/>
          <a:stretch/>
        </p:blipFill>
        <p:spPr>
          <a:xfrm>
            <a:off x="3494392" y="2420904"/>
            <a:ext cx="1415296" cy="107082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26F4761-D7BB-778C-0078-DC69CC7F29F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0216" t="29966" r="27784" b="26142"/>
          <a:stretch/>
        </p:blipFill>
        <p:spPr>
          <a:xfrm>
            <a:off x="5945575" y="2073089"/>
            <a:ext cx="2048256" cy="1605394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A50393E-0718-6904-3531-4BF74F9CD2EB}"/>
              </a:ext>
            </a:extLst>
          </p:cNvPr>
          <p:cNvSpPr txBox="1"/>
          <p:nvPr/>
        </p:nvSpPr>
        <p:spPr>
          <a:xfrm>
            <a:off x="656345" y="3491727"/>
            <a:ext cx="153118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050" dirty="0" err="1"/>
              <a:t>Seeed</a:t>
            </a:r>
            <a:r>
              <a:rPr kumimoji="1" lang="en-US" altLang="ja-JP" sz="1050" dirty="0"/>
              <a:t> Studio</a:t>
            </a:r>
            <a:r>
              <a:rPr kumimoji="1" lang="ja-JP" altLang="en-US" sz="1050" dirty="0"/>
              <a:t>社が</a:t>
            </a:r>
            <a:endParaRPr kumimoji="1" lang="en-US" altLang="ja-JP" sz="1050" dirty="0"/>
          </a:p>
          <a:p>
            <a:pPr algn="ctr"/>
            <a:r>
              <a:rPr kumimoji="1" lang="ja-JP" altLang="en-US" sz="1050" dirty="0"/>
              <a:t>販売する各種周辺回路</a:t>
            </a:r>
            <a:endParaRPr kumimoji="1" lang="en-US" altLang="ja-JP" sz="105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A20CF98-5722-5618-097A-9D239DC19B74}"/>
              </a:ext>
            </a:extLst>
          </p:cNvPr>
          <p:cNvSpPr txBox="1"/>
          <p:nvPr/>
        </p:nvSpPr>
        <p:spPr>
          <a:xfrm>
            <a:off x="3582260" y="337573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専用ケーブル</a:t>
            </a:r>
            <a:endParaRPr kumimoji="1" lang="en-US" altLang="ja-JP" sz="12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21C0EE3-E1A4-D97A-1549-404B77D28D1B}"/>
              </a:ext>
            </a:extLst>
          </p:cNvPr>
          <p:cNvSpPr txBox="1"/>
          <p:nvPr/>
        </p:nvSpPr>
        <p:spPr>
          <a:xfrm>
            <a:off x="5645783" y="3669493"/>
            <a:ext cx="2647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/>
              <a:t>Grove</a:t>
            </a:r>
            <a:r>
              <a:rPr kumimoji="1" lang="ja-JP" altLang="en-US" sz="1200" dirty="0"/>
              <a:t>シールド</a:t>
            </a:r>
            <a:r>
              <a:rPr kumimoji="1" lang="en-US" altLang="ja-JP" sz="1200" dirty="0"/>
              <a:t>(Classic</a:t>
            </a:r>
            <a:r>
              <a:rPr kumimoji="1" lang="ja-JP" altLang="en-US" sz="1200" dirty="0"/>
              <a:t>ファミリ用</a:t>
            </a:r>
            <a:r>
              <a:rPr kumimoji="1" lang="en-US" altLang="ja-JP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03072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E70854-01F4-6C96-3074-D930F5D01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周辺回路接続 </a:t>
            </a:r>
            <a:r>
              <a:rPr kumimoji="1" lang="en-US" altLang="ja-JP" dirty="0"/>
              <a:t>(4) : Grove</a:t>
            </a:r>
            <a:r>
              <a:rPr kumimoji="1" lang="ja-JP" altLang="en-US" dirty="0"/>
              <a:t>変換ケーブル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0B4E3716-361D-39B7-A3C4-0C78B6228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Grove</a:t>
            </a:r>
            <a:r>
              <a:rPr lang="ja-JP" altLang="en-US" dirty="0"/>
              <a:t>に対応していない周辺回路モジュールを</a:t>
            </a:r>
            <a:r>
              <a:rPr lang="en-US" altLang="ja-JP" dirty="0"/>
              <a:t>Grove</a:t>
            </a:r>
            <a:r>
              <a:rPr lang="ja-JP" altLang="en-US" dirty="0"/>
              <a:t>シールドに接続する場合に利用 </a:t>
            </a:r>
            <a:r>
              <a:rPr lang="en-US" altLang="ja-JP" dirty="0"/>
              <a:t>(</a:t>
            </a:r>
            <a:r>
              <a:rPr lang="ja-JP" altLang="en-US" dirty="0"/>
              <a:t>今回は利用せず</a:t>
            </a:r>
            <a:r>
              <a:rPr lang="en-US" altLang="ja-JP" dirty="0"/>
              <a:t>)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73C3BEE-C5C3-FFA4-9670-B7F6F8BFF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80" y="2264936"/>
            <a:ext cx="3710940" cy="157734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129CA938-7057-D34E-8780-2B8DF8860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234" y="1837718"/>
            <a:ext cx="2513648" cy="168687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1A0B55-CB7E-ECF1-6D3F-D75382ED3E61}"/>
              </a:ext>
            </a:extLst>
          </p:cNvPr>
          <p:cNvSpPr txBox="1"/>
          <p:nvPr/>
        </p:nvSpPr>
        <p:spPr>
          <a:xfrm>
            <a:off x="2048928" y="4042582"/>
            <a:ext cx="4596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dirty="0">
                <a:solidFill>
                  <a:srgbClr val="FF0000"/>
                </a:solidFill>
              </a:rPr>
              <a:t>注意事項 </a:t>
            </a:r>
            <a:r>
              <a:rPr kumimoji="1" lang="en-US" altLang="ja-JP" dirty="0">
                <a:solidFill>
                  <a:srgbClr val="FF0000"/>
                </a:solidFill>
              </a:rPr>
              <a:t>: </a:t>
            </a:r>
            <a:r>
              <a:rPr kumimoji="1" lang="ja-JP" altLang="en-US" dirty="0">
                <a:solidFill>
                  <a:srgbClr val="FF0000"/>
                </a:solidFill>
              </a:rPr>
              <a:t>接続がゆるいため，外れやすい</a:t>
            </a:r>
          </a:p>
        </p:txBody>
      </p:sp>
    </p:spTree>
    <p:extLst>
      <p:ext uri="{BB962C8B-B14F-4D97-AF65-F5344CB8AC3E}">
        <p14:creationId xmlns:p14="http://schemas.microsoft.com/office/powerpoint/2010/main" val="2555744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48ED7C2-5984-26D1-94D5-876AC7A37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06" y="2211889"/>
            <a:ext cx="853440" cy="85344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15BFA0E9-6293-285B-0BFC-5BC5F8350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Grove</a:t>
            </a:r>
            <a:r>
              <a:rPr lang="ja-JP" altLang="en-US" dirty="0"/>
              <a:t>コネクタの注意事項</a:t>
            </a:r>
            <a:endParaRPr kumimoji="1" lang="ja-JP" altLang="en-US" dirty="0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64AAEA60-13E0-00D4-B4CB-C1225261E0E0}"/>
              </a:ext>
            </a:extLst>
          </p:cNvPr>
          <p:cNvCxnSpPr>
            <a:cxnSpLocks/>
          </p:cNvCxnSpPr>
          <p:nvPr/>
        </p:nvCxnSpPr>
        <p:spPr>
          <a:xfrm rot="16200000">
            <a:off x="1388573" y="2053380"/>
            <a:ext cx="108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D66C5F5-D857-5B62-010D-F817BBCF55C8}"/>
              </a:ext>
            </a:extLst>
          </p:cNvPr>
          <p:cNvCxnSpPr>
            <a:cxnSpLocks/>
          </p:cNvCxnSpPr>
          <p:nvPr/>
        </p:nvCxnSpPr>
        <p:spPr>
          <a:xfrm rot="16200000">
            <a:off x="1297508" y="2004268"/>
            <a:ext cx="108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892702C-34CF-570D-A528-225A6107D63D}"/>
              </a:ext>
            </a:extLst>
          </p:cNvPr>
          <p:cNvCxnSpPr>
            <a:cxnSpLocks/>
          </p:cNvCxnSpPr>
          <p:nvPr/>
        </p:nvCxnSpPr>
        <p:spPr>
          <a:xfrm rot="16200000">
            <a:off x="1094219" y="1947195"/>
            <a:ext cx="1080000" cy="0"/>
          </a:xfrm>
          <a:prstGeom prst="line">
            <a:avLst/>
          </a:prstGeom>
          <a:ln w="28575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0526B9AD-B002-E12D-C815-AF022ECB1CA0}"/>
              </a:ext>
            </a:extLst>
          </p:cNvPr>
          <p:cNvCxnSpPr>
            <a:cxnSpLocks/>
          </p:cNvCxnSpPr>
          <p:nvPr/>
        </p:nvCxnSpPr>
        <p:spPr>
          <a:xfrm rot="16200000">
            <a:off x="1206443" y="2053380"/>
            <a:ext cx="1080000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623138A-CC64-8E34-CBB8-F72A461411CC}"/>
              </a:ext>
            </a:extLst>
          </p:cNvPr>
          <p:cNvSpPr/>
          <p:nvPr/>
        </p:nvSpPr>
        <p:spPr>
          <a:xfrm>
            <a:off x="918447" y="1339770"/>
            <a:ext cx="1653557" cy="522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I2C</a:t>
            </a:r>
            <a:r>
              <a:rPr kumimoji="1" lang="ja-JP" altLang="en-US" sz="1200" dirty="0">
                <a:solidFill>
                  <a:schemeClr val="tx1"/>
                </a:solidFill>
              </a:rPr>
              <a:t>周辺回路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436A56C-5EED-9F91-F6B0-50D2A5F801F3}"/>
              </a:ext>
            </a:extLst>
          </p:cNvPr>
          <p:cNvSpPr txBox="1"/>
          <p:nvPr/>
        </p:nvSpPr>
        <p:spPr>
          <a:xfrm>
            <a:off x="1218728" y="2004267"/>
            <a:ext cx="471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200" dirty="0"/>
              <a:t>SCL</a:t>
            </a:r>
            <a:endParaRPr kumimoji="1" lang="ja-JP" altLang="en-US" sz="1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728EE57-4182-5F2B-83A4-4C3BF38C9325}"/>
              </a:ext>
            </a:extLst>
          </p:cNvPr>
          <p:cNvSpPr txBox="1"/>
          <p:nvPr/>
        </p:nvSpPr>
        <p:spPr>
          <a:xfrm>
            <a:off x="1381557" y="1623457"/>
            <a:ext cx="892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200" dirty="0"/>
              <a:t>SDA,VDD</a:t>
            </a:r>
            <a:endParaRPr kumimoji="1" lang="ja-JP" altLang="en-US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4C2FFF8-C316-730A-1BE4-7B9733704E5A}"/>
              </a:ext>
            </a:extLst>
          </p:cNvPr>
          <p:cNvSpPr txBox="1"/>
          <p:nvPr/>
        </p:nvSpPr>
        <p:spPr>
          <a:xfrm>
            <a:off x="1877552" y="2011305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200" dirty="0"/>
              <a:t>GND</a:t>
            </a:r>
            <a:endParaRPr kumimoji="1" lang="ja-JP" altLang="en-US" sz="1200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D84A5C56-C35A-75BB-5E33-C7063FD2D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252" y="2211889"/>
            <a:ext cx="853440" cy="853440"/>
          </a:xfrm>
          <a:prstGeom prst="rect">
            <a:avLst/>
          </a:prstGeom>
        </p:spPr>
      </p:pic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6389972-EA63-7BE9-84BD-42BF0D6031F9}"/>
              </a:ext>
            </a:extLst>
          </p:cNvPr>
          <p:cNvCxnSpPr>
            <a:cxnSpLocks/>
          </p:cNvCxnSpPr>
          <p:nvPr/>
        </p:nvCxnSpPr>
        <p:spPr>
          <a:xfrm rot="16200000">
            <a:off x="3865319" y="2053380"/>
            <a:ext cx="108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158179E-B06F-8E85-523D-095E714E277E}"/>
              </a:ext>
            </a:extLst>
          </p:cNvPr>
          <p:cNvCxnSpPr>
            <a:cxnSpLocks/>
          </p:cNvCxnSpPr>
          <p:nvPr/>
        </p:nvCxnSpPr>
        <p:spPr>
          <a:xfrm rot="16200000">
            <a:off x="3774254" y="2004268"/>
            <a:ext cx="108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499D275-F856-E4B4-9BAB-4EC71AFD4318}"/>
              </a:ext>
            </a:extLst>
          </p:cNvPr>
          <p:cNvCxnSpPr>
            <a:cxnSpLocks/>
          </p:cNvCxnSpPr>
          <p:nvPr/>
        </p:nvCxnSpPr>
        <p:spPr>
          <a:xfrm rot="16200000">
            <a:off x="3570965" y="1947195"/>
            <a:ext cx="1080000" cy="0"/>
          </a:xfrm>
          <a:prstGeom prst="line">
            <a:avLst/>
          </a:prstGeom>
          <a:ln w="28575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16DA5E3E-8350-964F-742E-AE03DC0920EC}"/>
              </a:ext>
            </a:extLst>
          </p:cNvPr>
          <p:cNvCxnSpPr>
            <a:cxnSpLocks/>
          </p:cNvCxnSpPr>
          <p:nvPr/>
        </p:nvCxnSpPr>
        <p:spPr>
          <a:xfrm rot="16200000">
            <a:off x="3683189" y="2053380"/>
            <a:ext cx="1080000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03E1F88-9707-BBE9-DCFB-3459C33FDA5B}"/>
              </a:ext>
            </a:extLst>
          </p:cNvPr>
          <p:cNvSpPr/>
          <p:nvPr/>
        </p:nvSpPr>
        <p:spPr>
          <a:xfrm>
            <a:off x="3395193" y="1339770"/>
            <a:ext cx="1653557" cy="522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デジタル周辺回路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F47A5D3-C7DF-9E81-547B-66EFE4C61F4B}"/>
              </a:ext>
            </a:extLst>
          </p:cNvPr>
          <p:cNvSpPr txBox="1"/>
          <p:nvPr/>
        </p:nvSpPr>
        <p:spPr>
          <a:xfrm>
            <a:off x="3781395" y="1962603"/>
            <a:ext cx="3962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200" dirty="0"/>
              <a:t>D1</a:t>
            </a:r>
            <a:endParaRPr kumimoji="1" lang="ja-JP" altLang="en-US" sz="12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3B49B40-4722-1A2D-2066-DB83969AC702}"/>
              </a:ext>
            </a:extLst>
          </p:cNvPr>
          <p:cNvSpPr txBox="1"/>
          <p:nvPr/>
        </p:nvSpPr>
        <p:spPr>
          <a:xfrm>
            <a:off x="3960600" y="1609663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200" dirty="0"/>
              <a:t>D2,VDD</a:t>
            </a:r>
            <a:endParaRPr kumimoji="1" lang="ja-JP" altLang="en-US" sz="12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C947655-9B66-3DF1-5A37-3D55A823FCF6}"/>
              </a:ext>
            </a:extLst>
          </p:cNvPr>
          <p:cNvSpPr txBox="1"/>
          <p:nvPr/>
        </p:nvSpPr>
        <p:spPr>
          <a:xfrm>
            <a:off x="4354298" y="2011305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200" dirty="0"/>
              <a:t>GND</a:t>
            </a:r>
            <a:endParaRPr kumimoji="1" lang="ja-JP" altLang="en-US" sz="12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3DC7DC9-5E36-2AE6-68E2-31C2743965B6}"/>
              </a:ext>
            </a:extLst>
          </p:cNvPr>
          <p:cNvSpPr txBox="1"/>
          <p:nvPr/>
        </p:nvSpPr>
        <p:spPr>
          <a:xfrm>
            <a:off x="3353393" y="1097881"/>
            <a:ext cx="1627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コネクタ「</a:t>
            </a:r>
            <a:r>
              <a:rPr kumimoji="1" lang="en-US" altLang="ja-JP" sz="1200" dirty="0"/>
              <a:t>D1</a:t>
            </a:r>
            <a:r>
              <a:rPr kumimoji="1" lang="ja-JP" altLang="en-US" sz="1200" dirty="0"/>
              <a:t>」端子</a:t>
            </a: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75596DF9-B194-E4DF-EE6B-DB46B0584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456" y="2211889"/>
            <a:ext cx="853440" cy="853440"/>
          </a:xfrm>
          <a:prstGeom prst="rect">
            <a:avLst/>
          </a:prstGeom>
        </p:spPr>
      </p:pic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42F403A8-6373-7B18-95DF-54173E5E9923}"/>
              </a:ext>
            </a:extLst>
          </p:cNvPr>
          <p:cNvCxnSpPr>
            <a:cxnSpLocks/>
          </p:cNvCxnSpPr>
          <p:nvPr/>
        </p:nvCxnSpPr>
        <p:spPr>
          <a:xfrm rot="16200000">
            <a:off x="6378523" y="2053380"/>
            <a:ext cx="108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AD74081-6D75-665B-94EA-A08704D779C3}"/>
              </a:ext>
            </a:extLst>
          </p:cNvPr>
          <p:cNvCxnSpPr>
            <a:cxnSpLocks/>
          </p:cNvCxnSpPr>
          <p:nvPr/>
        </p:nvCxnSpPr>
        <p:spPr>
          <a:xfrm rot="16200000">
            <a:off x="6287458" y="2004268"/>
            <a:ext cx="108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5D0D9D14-C843-2ABA-9B49-68BE138D6D86}"/>
              </a:ext>
            </a:extLst>
          </p:cNvPr>
          <p:cNvCxnSpPr>
            <a:cxnSpLocks/>
          </p:cNvCxnSpPr>
          <p:nvPr/>
        </p:nvCxnSpPr>
        <p:spPr>
          <a:xfrm rot="16200000">
            <a:off x="6084169" y="1947195"/>
            <a:ext cx="1080000" cy="0"/>
          </a:xfrm>
          <a:prstGeom prst="line">
            <a:avLst/>
          </a:prstGeom>
          <a:ln w="28575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976CF34B-991A-A6A2-F1F8-F803D4810295}"/>
              </a:ext>
            </a:extLst>
          </p:cNvPr>
          <p:cNvCxnSpPr>
            <a:cxnSpLocks/>
          </p:cNvCxnSpPr>
          <p:nvPr/>
        </p:nvCxnSpPr>
        <p:spPr>
          <a:xfrm rot="16200000">
            <a:off x="6196393" y="2053380"/>
            <a:ext cx="1080000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BF8E62A-E35B-89A1-86A0-9A4FBCD683D4}"/>
              </a:ext>
            </a:extLst>
          </p:cNvPr>
          <p:cNvSpPr/>
          <p:nvPr/>
        </p:nvSpPr>
        <p:spPr>
          <a:xfrm>
            <a:off x="5908397" y="1339770"/>
            <a:ext cx="1653557" cy="522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デジタル周辺回路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FA7ADAE-1BD3-AC2B-104B-C74221FAD128}"/>
              </a:ext>
            </a:extLst>
          </p:cNvPr>
          <p:cNvSpPr txBox="1"/>
          <p:nvPr/>
        </p:nvSpPr>
        <p:spPr>
          <a:xfrm>
            <a:off x="6294599" y="1962603"/>
            <a:ext cx="3850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200" dirty="0"/>
              <a:t>A1</a:t>
            </a:r>
            <a:endParaRPr kumimoji="1" lang="ja-JP" altLang="en-US" sz="12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7FE00E3-DCB4-50DC-373A-3CA807B8B0A0}"/>
              </a:ext>
            </a:extLst>
          </p:cNvPr>
          <p:cNvSpPr txBox="1"/>
          <p:nvPr/>
        </p:nvSpPr>
        <p:spPr>
          <a:xfrm>
            <a:off x="6473804" y="1609663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200" dirty="0"/>
              <a:t>A2,VDD</a:t>
            </a:r>
            <a:endParaRPr kumimoji="1" lang="ja-JP" altLang="en-US" sz="12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EF6E113-6CDE-ED5D-9B06-B3EDABEED54C}"/>
              </a:ext>
            </a:extLst>
          </p:cNvPr>
          <p:cNvSpPr txBox="1"/>
          <p:nvPr/>
        </p:nvSpPr>
        <p:spPr>
          <a:xfrm>
            <a:off x="6867502" y="2011305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200" dirty="0"/>
              <a:t>GND</a:t>
            </a:r>
            <a:endParaRPr kumimoji="1" lang="ja-JP" altLang="en-US" sz="12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947687F-76FB-8B42-BC06-DD117D684449}"/>
              </a:ext>
            </a:extLst>
          </p:cNvPr>
          <p:cNvSpPr txBox="1"/>
          <p:nvPr/>
        </p:nvSpPr>
        <p:spPr>
          <a:xfrm>
            <a:off x="5866597" y="1097881"/>
            <a:ext cx="16161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コネクタ「</a:t>
            </a:r>
            <a:r>
              <a:rPr kumimoji="1" lang="en-US" altLang="ja-JP" sz="1200" dirty="0"/>
              <a:t>A1</a:t>
            </a:r>
            <a:r>
              <a:rPr kumimoji="1" lang="ja-JP" altLang="en-US" sz="1200" dirty="0"/>
              <a:t>」端子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BA198A0-40C2-AF29-6D53-FDC7A49BA80C}"/>
              </a:ext>
            </a:extLst>
          </p:cNvPr>
          <p:cNvSpPr txBox="1"/>
          <p:nvPr/>
        </p:nvSpPr>
        <p:spPr>
          <a:xfrm>
            <a:off x="3407763" y="74765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b="1" dirty="0"/>
              <a:t>デジタル端子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6C4E115-B64B-B9CC-C954-3C006C06E747}"/>
              </a:ext>
            </a:extLst>
          </p:cNvPr>
          <p:cNvSpPr txBox="1"/>
          <p:nvPr/>
        </p:nvSpPr>
        <p:spPr>
          <a:xfrm>
            <a:off x="5913085" y="76302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b="1" dirty="0"/>
              <a:t>アナログ端子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ED0E8B7-9F99-8AEE-8BDF-AAF8F4F7A3FA}"/>
              </a:ext>
            </a:extLst>
          </p:cNvPr>
          <p:cNvSpPr txBox="1"/>
          <p:nvPr/>
        </p:nvSpPr>
        <p:spPr>
          <a:xfrm>
            <a:off x="1176154" y="866627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b="1" dirty="0"/>
              <a:t>I2C</a:t>
            </a:r>
            <a:r>
              <a:rPr kumimoji="1" lang="ja-JP" altLang="en-US" b="1" dirty="0"/>
              <a:t>端子</a:t>
            </a:r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403DBE4C-1AEB-627D-D6D8-ECD3831197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032" t="30035" r="27891" b="25863"/>
          <a:stretch/>
        </p:blipFill>
        <p:spPr>
          <a:xfrm>
            <a:off x="2811822" y="3459474"/>
            <a:ext cx="1502432" cy="1209806"/>
          </a:xfrm>
          <a:prstGeom prst="rect">
            <a:avLst/>
          </a:prstGeom>
        </p:spPr>
      </p:pic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622F5B9-6774-AD7E-E576-6916E720C3BE}"/>
              </a:ext>
            </a:extLst>
          </p:cNvPr>
          <p:cNvSpPr txBox="1"/>
          <p:nvPr/>
        </p:nvSpPr>
        <p:spPr>
          <a:xfrm>
            <a:off x="2800698" y="3201583"/>
            <a:ext cx="16674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400" dirty="0"/>
              <a:t>Classic</a:t>
            </a:r>
            <a:r>
              <a:rPr kumimoji="1" lang="ja-JP" altLang="en-US" sz="1400" dirty="0"/>
              <a:t>ファミリ用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4387B4FF-7CF8-6394-2037-5E07CA089046}"/>
              </a:ext>
            </a:extLst>
          </p:cNvPr>
          <p:cNvSpPr txBox="1"/>
          <p:nvPr/>
        </p:nvSpPr>
        <p:spPr>
          <a:xfrm>
            <a:off x="632605" y="3753653"/>
            <a:ext cx="19565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400" dirty="0"/>
              <a:t>MCU</a:t>
            </a:r>
            <a:r>
              <a:rPr kumimoji="1" lang="ja-JP" altLang="en-US" sz="1400" dirty="0"/>
              <a:t>の</a:t>
            </a:r>
            <a:r>
              <a:rPr kumimoji="1" lang="en-US" altLang="ja-JP" sz="1400" dirty="0">
                <a:solidFill>
                  <a:srgbClr val="FF0000"/>
                </a:solidFill>
              </a:rPr>
              <a:t>2</a:t>
            </a:r>
            <a:r>
              <a:rPr kumimoji="1" lang="ja-JP" altLang="en-US" sz="1400" dirty="0">
                <a:solidFill>
                  <a:srgbClr val="FF0000"/>
                </a:solidFill>
              </a:rPr>
              <a:t>端子</a:t>
            </a:r>
            <a:r>
              <a:rPr kumimoji="1" lang="ja-JP" altLang="en-US" sz="1400" dirty="0"/>
              <a:t>が</a:t>
            </a:r>
            <a:r>
              <a:rPr kumimoji="1" lang="en-US" altLang="ja-JP" sz="1400" dirty="0"/>
              <a:t>1</a:t>
            </a:r>
            <a:r>
              <a:rPr kumimoji="1" lang="ja-JP" altLang="en-US" sz="1400" dirty="0"/>
              <a:t>つの</a:t>
            </a:r>
            <a:endParaRPr kumimoji="1" lang="en-US" altLang="ja-JP" sz="1400" dirty="0"/>
          </a:p>
          <a:p>
            <a:pPr algn="l"/>
            <a:r>
              <a:rPr kumimoji="1" lang="en-US" altLang="ja-JP" sz="1400" dirty="0"/>
              <a:t>Grove</a:t>
            </a:r>
            <a:r>
              <a:rPr kumimoji="1" lang="ja-JP" altLang="en-US" sz="1400" dirty="0"/>
              <a:t>コネクタに接続</a:t>
            </a:r>
          </a:p>
        </p:txBody>
      </p:sp>
    </p:spTree>
    <p:extLst>
      <p:ext uri="{BB962C8B-B14F-4D97-AF65-F5344CB8AC3E}">
        <p14:creationId xmlns:p14="http://schemas.microsoft.com/office/powerpoint/2010/main" val="3650983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DFBBB0-FE36-0FC3-3D7E-04E71479C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2000" dirty="0"/>
              <a:t>周辺回路とマイコンを接続するインターフェース</a:t>
            </a:r>
            <a:endParaRPr kumimoji="1" lang="ja-JP" altLang="en-US" sz="20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6BC1FB-740B-0B84-158D-AB7E72E1D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Arduino</a:t>
            </a:r>
            <a:r>
              <a:rPr kumimoji="1" lang="ja-JP" altLang="en-US" dirty="0"/>
              <a:t>や類似のマイコンで周辺回路を接続するインターフェイス</a:t>
            </a:r>
            <a:endParaRPr kumimoji="1" lang="en-US" altLang="ja-JP" dirty="0"/>
          </a:p>
          <a:p>
            <a:pPr lvl="1"/>
            <a:r>
              <a:rPr lang="ja-JP" altLang="en-US" dirty="0"/>
              <a:t>デジタル</a:t>
            </a:r>
            <a:endParaRPr lang="en-US" altLang="ja-JP" dirty="0"/>
          </a:p>
          <a:p>
            <a:pPr lvl="1"/>
            <a:r>
              <a:rPr kumimoji="1" lang="ja-JP" altLang="en-US" dirty="0"/>
              <a:t>アナログ</a:t>
            </a:r>
            <a:endParaRPr kumimoji="1" lang="en-US" altLang="ja-JP" dirty="0"/>
          </a:p>
          <a:p>
            <a:pPr lvl="1"/>
            <a:r>
              <a:rPr lang="en-US" altLang="ja-JP" dirty="0"/>
              <a:t>I2C : Inter-Integrated Circuit (IIC</a:t>
            </a:r>
            <a:r>
              <a:rPr lang="ja-JP" altLang="en-US" dirty="0"/>
              <a:t>→</a:t>
            </a:r>
            <a:r>
              <a:rPr lang="en-US" altLang="ja-JP" dirty="0"/>
              <a:t>I2C)</a:t>
            </a:r>
          </a:p>
          <a:p>
            <a:pPr lvl="1"/>
            <a:r>
              <a:rPr kumimoji="1" lang="en-US" altLang="ja-JP" dirty="0"/>
              <a:t>SPI : Serial Peripheral Interface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81371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A95E7-B7EE-7149-50C3-4BCF9190D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FA9AC9-AD86-5794-38B7-11F25CA38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周辺回路とのインターフェース</a:t>
            </a:r>
            <a:r>
              <a:rPr lang="en-US" altLang="ja-JP" dirty="0"/>
              <a:t>(1) : </a:t>
            </a:r>
            <a:r>
              <a:rPr lang="ja-JP" altLang="en-US" dirty="0"/>
              <a:t>デジタル</a:t>
            </a:r>
            <a:endParaRPr kumimoji="1" lang="ja-JP" altLang="en-US" dirty="0"/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788B9BFA-AAE4-02A1-D2BF-E76F180E4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400" y="2173150"/>
            <a:ext cx="8679600" cy="2564450"/>
          </a:xfrm>
        </p:spPr>
        <p:txBody>
          <a:bodyPr/>
          <a:lstStyle/>
          <a:p>
            <a:r>
              <a:rPr lang="ja-JP" altLang="en-US" dirty="0"/>
              <a:t>読み取り</a:t>
            </a:r>
            <a:endParaRPr lang="en-US" altLang="ja-JP" dirty="0"/>
          </a:p>
          <a:p>
            <a:pPr lvl="1"/>
            <a:r>
              <a:rPr lang="ja-JP" altLang="en-US" dirty="0"/>
              <a:t>周辺回路の出力電圧が</a:t>
            </a:r>
            <a:r>
              <a:rPr lang="ja-JP" altLang="en-US" dirty="0">
                <a:solidFill>
                  <a:srgbClr val="FF0000"/>
                </a:solidFill>
              </a:rPr>
              <a:t>しきい値</a:t>
            </a:r>
            <a:r>
              <a:rPr lang="ja-JP" altLang="en-US" dirty="0"/>
              <a:t>を超えていれば</a:t>
            </a:r>
            <a:r>
              <a:rPr lang="en-US" altLang="ja-JP" dirty="0">
                <a:solidFill>
                  <a:srgbClr val="FF0000"/>
                </a:solidFill>
              </a:rPr>
              <a:t>1</a:t>
            </a:r>
            <a:r>
              <a:rPr lang="ja-JP" altLang="en-US" dirty="0"/>
              <a:t>，それ以外は</a:t>
            </a:r>
            <a:r>
              <a:rPr lang="en-US" altLang="ja-JP" dirty="0">
                <a:solidFill>
                  <a:srgbClr val="FF0000"/>
                </a:solidFill>
              </a:rPr>
              <a:t>0</a:t>
            </a:r>
            <a:r>
              <a:rPr lang="ja-JP" altLang="en-US" dirty="0"/>
              <a:t>とみなす</a:t>
            </a:r>
            <a:endParaRPr lang="en-US" altLang="ja-JP" dirty="0"/>
          </a:p>
          <a:p>
            <a:pPr lvl="1"/>
            <a:endParaRPr lang="en-US" altLang="ja-JP" dirty="0"/>
          </a:p>
          <a:p>
            <a:r>
              <a:rPr lang="ja-JP" altLang="en-US" dirty="0"/>
              <a:t>書き込み</a:t>
            </a:r>
            <a:endParaRPr lang="en-US" altLang="ja-JP" dirty="0"/>
          </a:p>
          <a:p>
            <a:pPr lvl="1"/>
            <a:r>
              <a:rPr lang="ja-JP" altLang="en-US" dirty="0"/>
              <a:t>書き込む値に応じて周辺回路が接続されている端子の電圧を変更</a:t>
            </a:r>
            <a:endParaRPr lang="en-US" altLang="ja-JP" dirty="0"/>
          </a:p>
          <a:p>
            <a:pPr lvl="2"/>
            <a:r>
              <a:rPr lang="en-US" altLang="ja-JP" dirty="0"/>
              <a:t>1 : </a:t>
            </a:r>
            <a:r>
              <a:rPr lang="ja-JP" altLang="en-US" dirty="0"/>
              <a:t>しきい値以上 </a:t>
            </a:r>
            <a:r>
              <a:rPr lang="en-US" altLang="ja-JP" dirty="0"/>
              <a:t>(</a:t>
            </a:r>
            <a:r>
              <a:rPr lang="ja-JP" altLang="en-US" dirty="0"/>
              <a:t>通常は</a:t>
            </a:r>
            <a:r>
              <a:rPr lang="en-US" altLang="ja-JP" dirty="0"/>
              <a:t>MCU</a:t>
            </a:r>
            <a:r>
              <a:rPr lang="ja-JP" altLang="en-US" dirty="0"/>
              <a:t>の動作電圧</a:t>
            </a:r>
            <a:r>
              <a:rPr lang="en-US" altLang="ja-JP" dirty="0"/>
              <a:t>)</a:t>
            </a:r>
          </a:p>
          <a:p>
            <a:pPr lvl="2"/>
            <a:r>
              <a:rPr lang="en-US" altLang="ja-JP" dirty="0"/>
              <a:t>0 : </a:t>
            </a:r>
            <a:r>
              <a:rPr lang="ja-JP" altLang="en-US" dirty="0"/>
              <a:t>しきい値以下 </a:t>
            </a:r>
            <a:r>
              <a:rPr lang="en-US" altLang="ja-JP" dirty="0"/>
              <a:t>(</a:t>
            </a:r>
            <a:r>
              <a:rPr lang="ja-JP" altLang="en-US" dirty="0"/>
              <a:t>通常は</a:t>
            </a:r>
            <a:r>
              <a:rPr lang="en-US" altLang="ja-JP" dirty="0"/>
              <a:t>0V)</a:t>
            </a:r>
            <a:endParaRPr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7D616C6-6DEF-36A4-3AFD-F42E6EB8E4CA}"/>
              </a:ext>
            </a:extLst>
          </p:cNvPr>
          <p:cNvSpPr/>
          <p:nvPr/>
        </p:nvSpPr>
        <p:spPr>
          <a:xfrm>
            <a:off x="997132" y="1175656"/>
            <a:ext cx="1410788" cy="4598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MCU</a:t>
            </a:r>
            <a:r>
              <a:rPr kumimoji="1" lang="ja-JP" altLang="en-US" dirty="0">
                <a:solidFill>
                  <a:schemeClr val="tx1"/>
                </a:solidFill>
              </a:rPr>
              <a:t>の端子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3E77D57-7E1F-48BB-891E-16341FDCC8BD}"/>
              </a:ext>
            </a:extLst>
          </p:cNvPr>
          <p:cNvSpPr/>
          <p:nvPr/>
        </p:nvSpPr>
        <p:spPr>
          <a:xfrm>
            <a:off x="4572000" y="1175655"/>
            <a:ext cx="1410788" cy="4598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回路の端子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E0CBD00-2DBE-B11F-73C1-20DEC120A379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2407920" y="1405562"/>
            <a:ext cx="2164080" cy="1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17A8E8C5-FBE4-3928-1D64-1CA96E6848A1}"/>
              </a:ext>
            </a:extLst>
          </p:cNvPr>
          <p:cNvCxnSpPr/>
          <p:nvPr/>
        </p:nvCxnSpPr>
        <p:spPr>
          <a:xfrm flipH="1">
            <a:off x="3959788" y="1243583"/>
            <a:ext cx="491163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D8FDE86-13F5-1D6D-DDF9-79AF9C1EFBBD}"/>
              </a:ext>
            </a:extLst>
          </p:cNvPr>
          <p:cNvSpPr txBox="1"/>
          <p:nvPr/>
        </p:nvSpPr>
        <p:spPr>
          <a:xfrm>
            <a:off x="3489960" y="885614"/>
            <a:ext cx="1223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dirty="0"/>
              <a:t>出力電圧 </a:t>
            </a:r>
            <a:r>
              <a:rPr kumimoji="1" lang="en-US" altLang="ja-JP" sz="1400" dirty="0"/>
              <a:t>: V</a:t>
            </a:r>
            <a:endParaRPr kumimoji="1" lang="ja-JP" altLang="en-US" sz="1400" dirty="0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6A09B871-772C-8D14-242E-6F679E2834D2}"/>
              </a:ext>
            </a:extLst>
          </p:cNvPr>
          <p:cNvCxnSpPr>
            <a:cxnSpLocks/>
          </p:cNvCxnSpPr>
          <p:nvPr/>
        </p:nvCxnSpPr>
        <p:spPr>
          <a:xfrm>
            <a:off x="2743200" y="1549299"/>
            <a:ext cx="491163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1B26C73-E985-B7B3-55AD-4211612E5095}"/>
              </a:ext>
            </a:extLst>
          </p:cNvPr>
          <p:cNvSpPr txBox="1"/>
          <p:nvPr/>
        </p:nvSpPr>
        <p:spPr>
          <a:xfrm>
            <a:off x="2487603" y="1635468"/>
            <a:ext cx="1223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dirty="0"/>
              <a:t>出力電圧 </a:t>
            </a:r>
            <a:r>
              <a:rPr kumimoji="1" lang="en-US" altLang="ja-JP" sz="1400" dirty="0"/>
              <a:t>: V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52134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EB1F2-629D-194E-853B-1BE6152DF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80A38E-3401-1AA8-D646-6B2DA2A5D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2300" dirty="0"/>
              <a:t>周辺回路とのインターフェース</a:t>
            </a:r>
            <a:r>
              <a:rPr lang="en-US" altLang="ja-JP" sz="2300" dirty="0"/>
              <a:t>(2) : </a:t>
            </a:r>
            <a:r>
              <a:rPr lang="ja-JP" altLang="en-US" sz="2300" dirty="0"/>
              <a:t>アナログ入力</a:t>
            </a:r>
            <a:endParaRPr kumimoji="1" lang="ja-JP" altLang="en-US" sz="2300" dirty="0"/>
          </a:p>
        </p:txBody>
      </p:sp>
      <p:sp>
        <p:nvSpPr>
          <p:cNvPr id="21" name="コンテンツ プレースホルダー 20">
            <a:extLst>
              <a:ext uri="{FF2B5EF4-FFF2-40B4-BE49-F238E27FC236}">
                <a16:creationId xmlns:a16="http://schemas.microsoft.com/office/drawing/2014/main" id="{88ADC017-90DE-239C-E7DB-7FFA52373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400" y="2178884"/>
            <a:ext cx="8679600" cy="2558715"/>
          </a:xfrm>
        </p:spPr>
        <p:txBody>
          <a:bodyPr/>
          <a:lstStyle/>
          <a:p>
            <a:r>
              <a:rPr lang="ja-JP" altLang="en-US" dirty="0"/>
              <a:t>読み取り</a:t>
            </a:r>
            <a:endParaRPr lang="en-US" altLang="ja-JP" dirty="0"/>
          </a:p>
          <a:p>
            <a:pPr lvl="1"/>
            <a:r>
              <a:rPr lang="ja-JP" altLang="en-US" dirty="0"/>
              <a:t>周辺回路の出力電圧がマイコンの動作電圧</a:t>
            </a:r>
            <a:r>
              <a:rPr lang="en-US" altLang="ja-JP" dirty="0"/>
              <a:t>(VDD)</a:t>
            </a:r>
            <a:r>
              <a:rPr lang="ja-JP" altLang="en-US" dirty="0"/>
              <a:t>に対して，どの程度であったかをアナログ</a:t>
            </a:r>
            <a:r>
              <a:rPr lang="en-US" altLang="ja-JP" dirty="0"/>
              <a:t>/</a:t>
            </a:r>
            <a:r>
              <a:rPr lang="ja-JP" altLang="en-US" dirty="0"/>
              <a:t>デジタル変換回路</a:t>
            </a:r>
            <a:r>
              <a:rPr lang="en-US" altLang="ja-JP" dirty="0"/>
              <a:t>(ADC)</a:t>
            </a:r>
            <a:r>
              <a:rPr lang="ja-JP" altLang="en-US" dirty="0"/>
              <a:t>が判断して出力</a:t>
            </a:r>
            <a:endParaRPr lang="en-US" altLang="ja-JP" dirty="0"/>
          </a:p>
          <a:p>
            <a:pPr lvl="2"/>
            <a:r>
              <a:rPr lang="en-US" altLang="ja-JP" dirty="0"/>
              <a:t>Arduino</a:t>
            </a:r>
            <a:r>
              <a:rPr lang="ja-JP" altLang="en-US" dirty="0"/>
              <a:t>は</a:t>
            </a:r>
            <a:r>
              <a:rPr lang="en-US" altLang="ja-JP" dirty="0"/>
              <a:t>ADC</a:t>
            </a:r>
            <a:r>
              <a:rPr lang="ja-JP" altLang="en-US" dirty="0"/>
              <a:t>が</a:t>
            </a:r>
            <a:r>
              <a:rPr lang="en-US" altLang="ja-JP" dirty="0"/>
              <a:t>10bit</a:t>
            </a:r>
            <a:r>
              <a:rPr lang="ja-JP" altLang="en-US" dirty="0"/>
              <a:t>回路であるため，</a:t>
            </a:r>
            <a:r>
              <a:rPr lang="en-US" altLang="ja-JP" dirty="0"/>
              <a:t>0</a:t>
            </a:r>
            <a:r>
              <a:rPr lang="ja-JP" altLang="en-US" dirty="0"/>
              <a:t>から</a:t>
            </a:r>
            <a:r>
              <a:rPr lang="en-US" altLang="ja-JP" dirty="0"/>
              <a:t>1023</a:t>
            </a:r>
            <a:r>
              <a:rPr lang="ja-JP" altLang="en-US" dirty="0"/>
              <a:t>までの値として読み取れる</a:t>
            </a:r>
            <a:endParaRPr lang="en-US" altLang="ja-JP" dirty="0"/>
          </a:p>
          <a:p>
            <a:pPr lvl="2"/>
            <a:endParaRPr lang="en-US" altLang="ja-JP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35C6CE5-4AF4-44CA-39A3-8BE3B34F9765}"/>
              </a:ext>
            </a:extLst>
          </p:cNvPr>
          <p:cNvSpPr/>
          <p:nvPr/>
        </p:nvSpPr>
        <p:spPr>
          <a:xfrm>
            <a:off x="443267" y="1119050"/>
            <a:ext cx="1410788" cy="4598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MCU</a:t>
            </a:r>
            <a:r>
              <a:rPr kumimoji="1" lang="ja-JP" altLang="en-US" dirty="0">
                <a:solidFill>
                  <a:schemeClr val="tx1"/>
                </a:solidFill>
              </a:rPr>
              <a:t>の端子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BB8F96C-C8AE-48A7-A8C0-6384C78C6F1B}"/>
              </a:ext>
            </a:extLst>
          </p:cNvPr>
          <p:cNvSpPr/>
          <p:nvPr/>
        </p:nvSpPr>
        <p:spPr>
          <a:xfrm>
            <a:off x="6834485" y="1119050"/>
            <a:ext cx="1410788" cy="4598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回路の端子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1B782D18-8A25-F774-DDE8-4DA82861A6F5}"/>
              </a:ext>
            </a:extLst>
          </p:cNvPr>
          <p:cNvCxnSpPr/>
          <p:nvPr/>
        </p:nvCxnSpPr>
        <p:spPr>
          <a:xfrm flipH="1">
            <a:off x="6222273" y="1186978"/>
            <a:ext cx="491163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2EF2F66-C28F-9CDF-7990-36915D4D697A}"/>
              </a:ext>
            </a:extLst>
          </p:cNvPr>
          <p:cNvSpPr txBox="1"/>
          <p:nvPr/>
        </p:nvSpPr>
        <p:spPr>
          <a:xfrm>
            <a:off x="5752445" y="829009"/>
            <a:ext cx="1223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dirty="0"/>
              <a:t>出力電圧 </a:t>
            </a:r>
            <a:r>
              <a:rPr kumimoji="1" lang="en-US" altLang="ja-JP" sz="1400" dirty="0"/>
              <a:t>: V</a:t>
            </a:r>
            <a:endParaRPr kumimoji="1" lang="ja-JP" altLang="en-US" sz="14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B99DC96-9DEB-4B0A-BE86-5C5AD11F384B}"/>
              </a:ext>
            </a:extLst>
          </p:cNvPr>
          <p:cNvSpPr/>
          <p:nvPr/>
        </p:nvSpPr>
        <p:spPr>
          <a:xfrm>
            <a:off x="3780580" y="1119051"/>
            <a:ext cx="1805093" cy="4598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アナログ</a:t>
            </a:r>
            <a:r>
              <a:rPr kumimoji="1" lang="en-US" altLang="ja-JP" sz="1400" dirty="0">
                <a:solidFill>
                  <a:schemeClr val="tx1"/>
                </a:solidFill>
              </a:rPr>
              <a:t>/</a:t>
            </a:r>
            <a:r>
              <a:rPr kumimoji="1" lang="ja-JP" altLang="en-US" sz="1400" dirty="0">
                <a:solidFill>
                  <a:schemeClr val="tx1"/>
                </a:solidFill>
              </a:rPr>
              <a:t>デジタル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変換回路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3CA57AF5-C8E0-04C8-7119-F3109E7FC099}"/>
              </a:ext>
            </a:extLst>
          </p:cNvPr>
          <p:cNvCxnSpPr>
            <a:stCxn id="9" idx="3"/>
            <a:endCxn id="5" idx="1"/>
          </p:cNvCxnSpPr>
          <p:nvPr/>
        </p:nvCxnSpPr>
        <p:spPr>
          <a:xfrm flipV="1">
            <a:off x="5585673" y="1348957"/>
            <a:ext cx="1248812" cy="1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BA085626-725B-2974-68D1-79CBE2393824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1854055" y="1348957"/>
            <a:ext cx="1926525" cy="1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14B79C68-41D2-6468-CEBE-FD727AFBDB14}"/>
              </a:ext>
            </a:extLst>
          </p:cNvPr>
          <p:cNvCxnSpPr/>
          <p:nvPr/>
        </p:nvCxnSpPr>
        <p:spPr>
          <a:xfrm flipH="1">
            <a:off x="3234362" y="1234875"/>
            <a:ext cx="491163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BADA7CC-C5AB-70B6-6173-3B8A097AB4EA}"/>
              </a:ext>
            </a:extLst>
          </p:cNvPr>
          <p:cNvSpPr txBox="1"/>
          <p:nvPr/>
        </p:nvSpPr>
        <p:spPr>
          <a:xfrm>
            <a:off x="2608464" y="980485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100" dirty="0"/>
              <a:t>デジタルデータ</a:t>
            </a:r>
          </a:p>
        </p:txBody>
      </p:sp>
    </p:spTree>
    <p:extLst>
      <p:ext uri="{BB962C8B-B14F-4D97-AF65-F5344CB8AC3E}">
        <p14:creationId xmlns:p14="http://schemas.microsoft.com/office/powerpoint/2010/main" val="2626289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6726F7-FAF9-0C8B-71C0-EE2DCFD84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300" dirty="0"/>
              <a:t>周辺回路とのインターフェース</a:t>
            </a:r>
            <a:r>
              <a:rPr lang="en-US" altLang="ja-JP" sz="2300" dirty="0"/>
              <a:t>(2) : </a:t>
            </a:r>
            <a:r>
              <a:rPr lang="ja-JP" altLang="en-US" sz="2300" dirty="0"/>
              <a:t>アナログ出力</a:t>
            </a:r>
            <a:endParaRPr kumimoji="1" lang="ja-JP" altLang="en-US" sz="2300" dirty="0"/>
          </a:p>
        </p:txBody>
      </p:sp>
      <p:sp>
        <p:nvSpPr>
          <p:cNvPr id="30" name="コンテンツ プレースホルダー 29">
            <a:extLst>
              <a:ext uri="{FF2B5EF4-FFF2-40B4-BE49-F238E27FC236}">
                <a16:creationId xmlns:a16="http://schemas.microsoft.com/office/drawing/2014/main" id="{DCB589E3-5A83-79B9-F7BD-181C4A817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400" y="2974652"/>
            <a:ext cx="8679600" cy="1762947"/>
          </a:xfrm>
        </p:spPr>
        <p:txBody>
          <a:bodyPr/>
          <a:lstStyle/>
          <a:p>
            <a:r>
              <a:rPr lang="ja-JP" altLang="en-US" dirty="0"/>
              <a:t>パルス波形で見かけ上の平均電圧を制御</a:t>
            </a:r>
            <a:endParaRPr lang="en-US" altLang="ja-JP" dirty="0"/>
          </a:p>
          <a:p>
            <a:pPr lvl="1"/>
            <a:r>
              <a:rPr lang="en-US" altLang="ja-JP" dirty="0"/>
              <a:t>Pulse Width Modulation</a:t>
            </a:r>
            <a:r>
              <a:rPr lang="ja-JP" altLang="en-US" dirty="0"/>
              <a:t>（パルス幅変調）</a:t>
            </a:r>
            <a:r>
              <a:rPr lang="en-US" altLang="ja-JP" dirty="0"/>
              <a:t>: PWM</a:t>
            </a:r>
            <a:r>
              <a:rPr lang="ja-JP" altLang="en-US" dirty="0"/>
              <a:t>と呼ばれる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63932BC-1423-1F24-5916-D5E4003C62D6}"/>
              </a:ext>
            </a:extLst>
          </p:cNvPr>
          <p:cNvCxnSpPr/>
          <p:nvPr/>
        </p:nvCxnSpPr>
        <p:spPr>
          <a:xfrm>
            <a:off x="3257550" y="2142934"/>
            <a:ext cx="10080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AF93958-D8EB-AC63-2503-C7CBE79A0DB7}"/>
              </a:ext>
            </a:extLst>
          </p:cNvPr>
          <p:cNvSpPr/>
          <p:nvPr/>
        </p:nvSpPr>
        <p:spPr>
          <a:xfrm>
            <a:off x="3499338" y="1646170"/>
            <a:ext cx="74735" cy="4967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03DD4C4-6531-3B46-1FD0-5689EFC6A326}"/>
              </a:ext>
            </a:extLst>
          </p:cNvPr>
          <p:cNvSpPr txBox="1"/>
          <p:nvPr/>
        </p:nvSpPr>
        <p:spPr>
          <a:xfrm>
            <a:off x="3004702" y="156610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100" dirty="0"/>
              <a:t>電圧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007C3C2-E9D3-9DF9-5253-1267232E4ECE}"/>
              </a:ext>
            </a:extLst>
          </p:cNvPr>
          <p:cNvSpPr/>
          <p:nvPr/>
        </p:nvSpPr>
        <p:spPr>
          <a:xfrm>
            <a:off x="3629758" y="1646170"/>
            <a:ext cx="74735" cy="4967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DA293A4-DFCA-3085-F629-61A3C950F6E1}"/>
              </a:ext>
            </a:extLst>
          </p:cNvPr>
          <p:cNvSpPr/>
          <p:nvPr/>
        </p:nvSpPr>
        <p:spPr>
          <a:xfrm>
            <a:off x="3760178" y="1646170"/>
            <a:ext cx="74735" cy="4967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9AC2DF9-0DD0-8947-265E-0E7B2432606D}"/>
              </a:ext>
            </a:extLst>
          </p:cNvPr>
          <p:cNvSpPr/>
          <p:nvPr/>
        </p:nvSpPr>
        <p:spPr>
          <a:xfrm>
            <a:off x="3890598" y="1646170"/>
            <a:ext cx="74735" cy="4967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D0F3D1BE-8BAE-421C-C2DE-15DDB0CD5C34}"/>
              </a:ext>
            </a:extLst>
          </p:cNvPr>
          <p:cNvCxnSpPr/>
          <p:nvPr/>
        </p:nvCxnSpPr>
        <p:spPr>
          <a:xfrm>
            <a:off x="4636477" y="2142934"/>
            <a:ext cx="11520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03BAAE8-A3B9-7663-805F-36D1AE88372C}"/>
              </a:ext>
            </a:extLst>
          </p:cNvPr>
          <p:cNvSpPr/>
          <p:nvPr/>
        </p:nvSpPr>
        <p:spPr>
          <a:xfrm>
            <a:off x="4857750" y="1894542"/>
            <a:ext cx="690196" cy="248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0510CC8-0B70-2E57-44B8-AAA5D689B89F}"/>
              </a:ext>
            </a:extLst>
          </p:cNvPr>
          <p:cNvSpPr txBox="1"/>
          <p:nvPr/>
        </p:nvSpPr>
        <p:spPr>
          <a:xfrm>
            <a:off x="5547946" y="1827719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100" dirty="0"/>
              <a:t>平均電圧</a:t>
            </a:r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1CB36329-56CE-BDA1-7258-17F327EBFFDA}"/>
              </a:ext>
            </a:extLst>
          </p:cNvPr>
          <p:cNvSpPr/>
          <p:nvPr/>
        </p:nvSpPr>
        <p:spPr>
          <a:xfrm>
            <a:off x="4340262" y="1922201"/>
            <a:ext cx="276957" cy="189032"/>
          </a:xfrm>
          <a:prstGeom prst="rightArrow">
            <a:avLst/>
          </a:prstGeom>
          <a:solidFill>
            <a:srgbClr val="FFE700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CA763CD-8C2F-4337-8B59-84717EA6BB88}"/>
              </a:ext>
            </a:extLst>
          </p:cNvPr>
          <p:cNvSpPr/>
          <p:nvPr/>
        </p:nvSpPr>
        <p:spPr>
          <a:xfrm>
            <a:off x="992736" y="2034149"/>
            <a:ext cx="1410788" cy="4598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MCU</a:t>
            </a:r>
            <a:r>
              <a:rPr kumimoji="1" lang="ja-JP" altLang="en-US" dirty="0">
                <a:solidFill>
                  <a:schemeClr val="tx1"/>
                </a:solidFill>
              </a:rPr>
              <a:t>の端子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063F5F0-7AD1-8949-6C00-4EC9969F362F}"/>
              </a:ext>
            </a:extLst>
          </p:cNvPr>
          <p:cNvSpPr/>
          <p:nvPr/>
        </p:nvSpPr>
        <p:spPr>
          <a:xfrm>
            <a:off x="6440376" y="2034148"/>
            <a:ext cx="1410788" cy="4598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回路の端子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1948BC60-3DD5-D33A-9F40-6D33115CBD13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 flipV="1">
            <a:off x="2403524" y="2264055"/>
            <a:ext cx="4036852" cy="1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F767E05A-5637-5E03-FEA0-5EF07953BFE6}"/>
              </a:ext>
            </a:extLst>
          </p:cNvPr>
          <p:cNvCxnSpPr>
            <a:cxnSpLocks/>
          </p:cNvCxnSpPr>
          <p:nvPr/>
        </p:nvCxnSpPr>
        <p:spPr>
          <a:xfrm>
            <a:off x="2738804" y="2407792"/>
            <a:ext cx="491163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3729982-8AAB-AF79-7A03-B66D32F14E9B}"/>
              </a:ext>
            </a:extLst>
          </p:cNvPr>
          <p:cNvSpPr txBox="1"/>
          <p:nvPr/>
        </p:nvSpPr>
        <p:spPr>
          <a:xfrm>
            <a:off x="2483207" y="2493961"/>
            <a:ext cx="1223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dirty="0"/>
              <a:t>出力電圧 </a:t>
            </a:r>
            <a:r>
              <a:rPr kumimoji="1" lang="en-US" altLang="ja-JP" sz="1400" dirty="0"/>
              <a:t>: V</a:t>
            </a:r>
            <a:endParaRPr kumimoji="1" lang="ja-JP" altLang="en-US" sz="1400" dirty="0"/>
          </a:p>
        </p:txBody>
      </p:sp>
      <p:sp>
        <p:nvSpPr>
          <p:cNvPr id="29" name="吹き出し: 四角形 28">
            <a:extLst>
              <a:ext uri="{FF2B5EF4-FFF2-40B4-BE49-F238E27FC236}">
                <a16:creationId xmlns:a16="http://schemas.microsoft.com/office/drawing/2014/main" id="{3B450451-1D33-8A39-6B63-6EEC984C26A7}"/>
              </a:ext>
            </a:extLst>
          </p:cNvPr>
          <p:cNvSpPr/>
          <p:nvPr/>
        </p:nvSpPr>
        <p:spPr>
          <a:xfrm>
            <a:off x="3345473" y="1164750"/>
            <a:ext cx="3450737" cy="267566"/>
          </a:xfrm>
          <a:prstGeom prst="wedgeRectCallout">
            <a:avLst>
              <a:gd name="adj1" fmla="val -35355"/>
              <a:gd name="adj2" fmla="val 111350"/>
            </a:avLst>
          </a:prstGeom>
          <a:solidFill>
            <a:srgbClr val="FFFFE7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周期，間隔を制御することで平均電圧を調整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394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CDF60-CC4E-8E3B-1956-060662C37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A0054A-439D-90A9-4CC3-755BBE8BB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周辺回路とのインターフェース</a:t>
            </a:r>
            <a:r>
              <a:rPr lang="en-US" altLang="ja-JP" dirty="0"/>
              <a:t>(3) : I2C</a:t>
            </a:r>
            <a:endParaRPr kumimoji="1" lang="ja-JP" altLang="en-US" dirty="0"/>
          </a:p>
        </p:txBody>
      </p:sp>
      <p:sp>
        <p:nvSpPr>
          <p:cNvPr id="23" name="コンテンツ プレースホルダー 22">
            <a:extLst>
              <a:ext uri="{FF2B5EF4-FFF2-40B4-BE49-F238E27FC236}">
                <a16:creationId xmlns:a16="http://schemas.microsoft.com/office/drawing/2014/main" id="{332DCC67-98BC-D2AE-88A0-D2A7E5ABC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400" y="2954592"/>
            <a:ext cx="8679600" cy="1783007"/>
          </a:xfrm>
        </p:spPr>
        <p:txBody>
          <a:bodyPr>
            <a:normAutofit fontScale="92500" lnSpcReduction="20000"/>
          </a:bodyPr>
          <a:lstStyle/>
          <a:p>
            <a:r>
              <a:rPr lang="ja-JP" altLang="en-US" dirty="0"/>
              <a:t>接続</a:t>
            </a:r>
            <a:endParaRPr lang="en-US" altLang="ja-JP" dirty="0"/>
          </a:p>
          <a:p>
            <a:pPr lvl="1"/>
            <a:r>
              <a:rPr lang="en-US" altLang="ja-JP" dirty="0"/>
              <a:t>4</a:t>
            </a:r>
            <a:r>
              <a:rPr lang="ja-JP" altLang="en-US" dirty="0"/>
              <a:t>線式バス型インターフェース</a:t>
            </a:r>
            <a:endParaRPr lang="en-US" altLang="ja-JP" dirty="0"/>
          </a:p>
          <a:p>
            <a:pPr lvl="1"/>
            <a:endParaRPr lang="en-US" altLang="ja-JP" dirty="0"/>
          </a:p>
          <a:p>
            <a:r>
              <a:rPr lang="ja-JP" altLang="en-US" dirty="0"/>
              <a:t>動作</a:t>
            </a:r>
            <a:endParaRPr lang="en-US" altLang="ja-JP" dirty="0"/>
          </a:p>
          <a:p>
            <a:pPr lvl="1"/>
            <a:r>
              <a:rPr lang="en-US" altLang="ja-JP" dirty="0"/>
              <a:t>MCU</a:t>
            </a:r>
            <a:r>
              <a:rPr lang="ja-JP" altLang="en-US" dirty="0"/>
              <a:t>から各周辺回路固有のアドレスを使って呼び出した上で，通信実施</a:t>
            </a:r>
            <a:endParaRPr lang="en-US" altLang="ja-JP" dirty="0"/>
          </a:p>
          <a:p>
            <a:pPr lvl="1"/>
            <a:r>
              <a:rPr lang="ja-JP" altLang="en-US" dirty="0"/>
              <a:t>周辺回路から</a:t>
            </a:r>
            <a:r>
              <a:rPr lang="en-US" altLang="ja-JP" dirty="0"/>
              <a:t>MCU</a:t>
            </a:r>
            <a:r>
              <a:rPr lang="ja-JP" altLang="en-US" dirty="0"/>
              <a:t>を呼び出すことはできない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0F74537-CA35-6DB6-079B-F13BA0B6BF92}"/>
              </a:ext>
            </a:extLst>
          </p:cNvPr>
          <p:cNvCxnSpPr/>
          <p:nvPr/>
        </p:nvCxnSpPr>
        <p:spPr>
          <a:xfrm>
            <a:off x="1583218" y="2440142"/>
            <a:ext cx="576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BA5724E-0810-4AFF-BE71-3EA76FAA24CD}"/>
              </a:ext>
            </a:extLst>
          </p:cNvPr>
          <p:cNvCxnSpPr/>
          <p:nvPr/>
        </p:nvCxnSpPr>
        <p:spPr>
          <a:xfrm>
            <a:off x="1583218" y="2633837"/>
            <a:ext cx="576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90DC6B2-7640-B7F7-5BEE-AD74911315AA}"/>
              </a:ext>
            </a:extLst>
          </p:cNvPr>
          <p:cNvCxnSpPr/>
          <p:nvPr/>
        </p:nvCxnSpPr>
        <p:spPr>
          <a:xfrm>
            <a:off x="1583218" y="2237597"/>
            <a:ext cx="5760000" cy="0"/>
          </a:xfrm>
          <a:prstGeom prst="line">
            <a:avLst/>
          </a:prstGeom>
          <a:ln w="28575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5C517F13-54E2-305E-AEF2-A8E779C1715A}"/>
              </a:ext>
            </a:extLst>
          </p:cNvPr>
          <p:cNvCxnSpPr/>
          <p:nvPr/>
        </p:nvCxnSpPr>
        <p:spPr>
          <a:xfrm>
            <a:off x="1583218" y="2053733"/>
            <a:ext cx="5760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716B74F-3314-4E8E-4C93-2BA3059C957E}"/>
              </a:ext>
            </a:extLst>
          </p:cNvPr>
          <p:cNvCxnSpPr>
            <a:cxnSpLocks/>
          </p:cNvCxnSpPr>
          <p:nvPr/>
        </p:nvCxnSpPr>
        <p:spPr>
          <a:xfrm rot="16200000">
            <a:off x="2062289" y="1990142"/>
            <a:ext cx="90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00CE2E3-20B5-33A8-A0FD-62BEFFC9C3E0}"/>
              </a:ext>
            </a:extLst>
          </p:cNvPr>
          <p:cNvCxnSpPr>
            <a:cxnSpLocks/>
          </p:cNvCxnSpPr>
          <p:nvPr/>
        </p:nvCxnSpPr>
        <p:spPr>
          <a:xfrm rot="16200000">
            <a:off x="1872000" y="2093837"/>
            <a:ext cx="108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46576BB7-0DB2-5841-2145-C8A0BD2F669C}"/>
              </a:ext>
            </a:extLst>
          </p:cNvPr>
          <p:cNvCxnSpPr>
            <a:cxnSpLocks/>
          </p:cNvCxnSpPr>
          <p:nvPr/>
        </p:nvCxnSpPr>
        <p:spPr>
          <a:xfrm rot="16200000">
            <a:off x="2276478" y="1895597"/>
            <a:ext cx="684000" cy="0"/>
          </a:xfrm>
          <a:prstGeom prst="line">
            <a:avLst/>
          </a:prstGeom>
          <a:ln w="28575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128A304-8A9C-1B2D-49C0-FD010B34DE14}"/>
              </a:ext>
            </a:extLst>
          </p:cNvPr>
          <p:cNvCxnSpPr>
            <a:cxnSpLocks/>
          </p:cNvCxnSpPr>
          <p:nvPr/>
        </p:nvCxnSpPr>
        <p:spPr>
          <a:xfrm rot="16200000">
            <a:off x="2484465" y="1801733"/>
            <a:ext cx="504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92043B1-2742-9849-395A-79E3D9477F1B}"/>
              </a:ext>
            </a:extLst>
          </p:cNvPr>
          <p:cNvSpPr/>
          <p:nvPr/>
        </p:nvSpPr>
        <p:spPr>
          <a:xfrm>
            <a:off x="831809" y="1911393"/>
            <a:ext cx="951151" cy="8495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MCU</a:t>
            </a: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80D1882-5819-AD57-88DE-0E9F7937C3B6}"/>
              </a:ext>
            </a:extLst>
          </p:cNvPr>
          <p:cNvSpPr txBox="1"/>
          <p:nvPr/>
        </p:nvSpPr>
        <p:spPr>
          <a:xfrm>
            <a:off x="7343218" y="2553631"/>
            <a:ext cx="10005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電源</a:t>
            </a:r>
            <a:r>
              <a:rPr kumimoji="1" lang="en-US" altLang="ja-JP" sz="1200" dirty="0"/>
              <a:t> : VDD</a:t>
            </a:r>
            <a:endParaRPr kumimoji="1" lang="ja-JP" altLang="en-US" sz="12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FFC33A7-05C1-4E9C-C504-F829FCE78647}"/>
              </a:ext>
            </a:extLst>
          </p:cNvPr>
          <p:cNvSpPr txBox="1"/>
          <p:nvPr/>
        </p:nvSpPr>
        <p:spPr>
          <a:xfrm>
            <a:off x="7343218" y="2325730"/>
            <a:ext cx="1159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アース</a:t>
            </a:r>
            <a:r>
              <a:rPr kumimoji="1" lang="en-US" altLang="ja-JP" sz="1200" dirty="0"/>
              <a:t> : GND</a:t>
            </a:r>
            <a:endParaRPr kumimoji="1" lang="ja-JP" altLang="en-US" sz="12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5B206FD-7C57-C614-C7E0-3EF9C62BC1A9}"/>
              </a:ext>
            </a:extLst>
          </p:cNvPr>
          <p:cNvSpPr txBox="1"/>
          <p:nvPr/>
        </p:nvSpPr>
        <p:spPr>
          <a:xfrm>
            <a:off x="7343218" y="2121492"/>
            <a:ext cx="1720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クロック信号線</a:t>
            </a:r>
            <a:r>
              <a:rPr kumimoji="1" lang="en-US" altLang="ja-JP" sz="1200" dirty="0"/>
              <a:t> : SCL</a:t>
            </a:r>
            <a:endParaRPr kumimoji="1" lang="ja-JP" altLang="en-US" sz="1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3A19DB7-F042-6D73-E95A-4604CC308839}"/>
              </a:ext>
            </a:extLst>
          </p:cNvPr>
          <p:cNvSpPr txBox="1"/>
          <p:nvPr/>
        </p:nvSpPr>
        <p:spPr>
          <a:xfrm>
            <a:off x="7343218" y="1905423"/>
            <a:ext cx="15963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データ信号線</a:t>
            </a:r>
            <a:r>
              <a:rPr kumimoji="1" lang="en-US" altLang="ja-JP" sz="1200" dirty="0"/>
              <a:t> : SDA</a:t>
            </a:r>
            <a:endParaRPr kumimoji="1" lang="ja-JP" altLang="en-US" sz="1200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B09EFB7-3F2C-99A1-FB68-7C076F0833AD}"/>
              </a:ext>
            </a:extLst>
          </p:cNvPr>
          <p:cNvSpPr/>
          <p:nvPr/>
        </p:nvSpPr>
        <p:spPr>
          <a:xfrm>
            <a:off x="1930711" y="936608"/>
            <a:ext cx="1375533" cy="8495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周辺回路</a:t>
            </a:r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(</a:t>
            </a:r>
            <a:r>
              <a:rPr kumimoji="1" lang="ja-JP" altLang="en-US" sz="1200" dirty="0">
                <a:solidFill>
                  <a:schemeClr val="tx1"/>
                </a:solidFill>
              </a:rPr>
              <a:t>アドレス </a:t>
            </a:r>
            <a:r>
              <a:rPr kumimoji="1" lang="en-US" altLang="ja-JP" sz="1200" dirty="0">
                <a:solidFill>
                  <a:schemeClr val="tx1"/>
                </a:solidFill>
              </a:rPr>
              <a:t>0xab)</a:t>
            </a:r>
            <a:endParaRPr kumimoji="1" lang="ja-JP" altLang="en-US" sz="1200" dirty="0" err="1">
              <a:solidFill>
                <a:schemeClr val="tx1"/>
              </a:solidFill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7A4EB9C2-9085-E55A-8C6E-0C707D91FF2C}"/>
              </a:ext>
            </a:extLst>
          </p:cNvPr>
          <p:cNvCxnSpPr>
            <a:cxnSpLocks/>
          </p:cNvCxnSpPr>
          <p:nvPr/>
        </p:nvCxnSpPr>
        <p:spPr>
          <a:xfrm rot="16200000">
            <a:off x="3919111" y="1990142"/>
            <a:ext cx="90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B1AA6D96-C580-E9D4-3090-4CF935ACE96E}"/>
              </a:ext>
            </a:extLst>
          </p:cNvPr>
          <p:cNvCxnSpPr>
            <a:cxnSpLocks/>
          </p:cNvCxnSpPr>
          <p:nvPr/>
        </p:nvCxnSpPr>
        <p:spPr>
          <a:xfrm rot="16200000">
            <a:off x="3728822" y="2093837"/>
            <a:ext cx="108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A44372B-7C55-8F4D-3A75-000231CF092E}"/>
              </a:ext>
            </a:extLst>
          </p:cNvPr>
          <p:cNvCxnSpPr>
            <a:cxnSpLocks/>
          </p:cNvCxnSpPr>
          <p:nvPr/>
        </p:nvCxnSpPr>
        <p:spPr>
          <a:xfrm rot="16200000">
            <a:off x="4133300" y="1895597"/>
            <a:ext cx="684000" cy="0"/>
          </a:xfrm>
          <a:prstGeom prst="line">
            <a:avLst/>
          </a:prstGeom>
          <a:ln w="28575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40B4AF4-20EC-AA86-41C3-A4385610623F}"/>
              </a:ext>
            </a:extLst>
          </p:cNvPr>
          <p:cNvCxnSpPr>
            <a:cxnSpLocks/>
          </p:cNvCxnSpPr>
          <p:nvPr/>
        </p:nvCxnSpPr>
        <p:spPr>
          <a:xfrm rot="16200000">
            <a:off x="4341287" y="1801733"/>
            <a:ext cx="504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26D0950-A4A8-57B9-E736-063CCB212380}"/>
              </a:ext>
            </a:extLst>
          </p:cNvPr>
          <p:cNvSpPr/>
          <p:nvPr/>
        </p:nvSpPr>
        <p:spPr>
          <a:xfrm>
            <a:off x="3787533" y="936608"/>
            <a:ext cx="1375533" cy="8495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周辺回路</a:t>
            </a:r>
            <a:r>
              <a:rPr kumimoji="1" lang="en-US" altLang="ja-JP" sz="1200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(</a:t>
            </a:r>
            <a:r>
              <a:rPr kumimoji="1" lang="ja-JP" altLang="en-US" sz="1200" dirty="0">
                <a:solidFill>
                  <a:schemeClr val="tx1"/>
                </a:solidFill>
              </a:rPr>
              <a:t>アドレス </a:t>
            </a:r>
            <a:r>
              <a:rPr kumimoji="1" lang="en-US" altLang="ja-JP" sz="1200" dirty="0">
                <a:solidFill>
                  <a:schemeClr val="tx1"/>
                </a:solidFill>
              </a:rPr>
              <a:t>0xcd)</a:t>
            </a:r>
            <a:endParaRPr kumimoji="1" lang="ja-JP" altLang="en-US" sz="1200" dirty="0" err="1">
              <a:solidFill>
                <a:schemeClr val="tx1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F869CF2-BD0D-E2B8-11EE-4640F4C792B3}"/>
              </a:ext>
            </a:extLst>
          </p:cNvPr>
          <p:cNvSpPr txBox="1"/>
          <p:nvPr/>
        </p:nvSpPr>
        <p:spPr>
          <a:xfrm>
            <a:off x="918116" y="163439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マスター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F5C0554-D67F-7AF5-27EB-5D025053CF08}"/>
              </a:ext>
            </a:extLst>
          </p:cNvPr>
          <p:cNvSpPr txBox="1"/>
          <p:nvPr/>
        </p:nvSpPr>
        <p:spPr>
          <a:xfrm>
            <a:off x="2291682" y="76147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スレーブ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9990B25-06F2-EF9A-E6FE-A12AC8CF7B17}"/>
              </a:ext>
            </a:extLst>
          </p:cNvPr>
          <p:cNvSpPr txBox="1"/>
          <p:nvPr/>
        </p:nvSpPr>
        <p:spPr>
          <a:xfrm>
            <a:off x="4019769" y="73657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スレーブ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A6557392-F942-C461-C4B0-9F6DDD02383C}"/>
              </a:ext>
            </a:extLst>
          </p:cNvPr>
          <p:cNvSpPr/>
          <p:nvPr/>
        </p:nvSpPr>
        <p:spPr>
          <a:xfrm>
            <a:off x="5691255" y="938818"/>
            <a:ext cx="3044067" cy="624526"/>
          </a:xfrm>
          <a:prstGeom prst="roundRect">
            <a:avLst/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便利だが，通信速度は低め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480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6A27D-53C5-1F7A-F8F2-F44CD8808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8F92F6-A118-AAFD-1C32-29426AA77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周辺回路とのインターフェース</a:t>
            </a:r>
            <a:r>
              <a:rPr lang="en-US" altLang="ja-JP" dirty="0"/>
              <a:t>(4) : SPI</a:t>
            </a:r>
            <a:endParaRPr kumimoji="1" lang="ja-JP" altLang="en-US" dirty="0"/>
          </a:p>
        </p:txBody>
      </p:sp>
      <p:sp>
        <p:nvSpPr>
          <p:cNvPr id="43" name="コンテンツ プレースホルダー 42">
            <a:extLst>
              <a:ext uri="{FF2B5EF4-FFF2-40B4-BE49-F238E27FC236}">
                <a16:creationId xmlns:a16="http://schemas.microsoft.com/office/drawing/2014/main" id="{C349E249-4ED9-3D8F-8C47-71B095D91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400" y="3228308"/>
            <a:ext cx="8679600" cy="1509292"/>
          </a:xfrm>
        </p:spPr>
        <p:txBody>
          <a:bodyPr>
            <a:normAutofit fontScale="77500" lnSpcReduction="20000"/>
          </a:bodyPr>
          <a:lstStyle/>
          <a:p>
            <a:r>
              <a:rPr lang="ja-JP" altLang="en-US" dirty="0"/>
              <a:t>接続</a:t>
            </a:r>
            <a:endParaRPr lang="en-US" altLang="ja-JP" dirty="0"/>
          </a:p>
          <a:p>
            <a:pPr lvl="1"/>
            <a:r>
              <a:rPr lang="en-US" altLang="ja-JP" dirty="0"/>
              <a:t>4+1</a:t>
            </a:r>
            <a:r>
              <a:rPr lang="ja-JP" altLang="en-US" dirty="0"/>
              <a:t>線式バス型インターフェース</a:t>
            </a:r>
            <a:endParaRPr lang="en-US" altLang="ja-JP" dirty="0"/>
          </a:p>
          <a:p>
            <a:pPr lvl="1"/>
            <a:endParaRPr lang="en-US" altLang="ja-JP" dirty="0"/>
          </a:p>
          <a:p>
            <a:r>
              <a:rPr lang="ja-JP" altLang="en-US" dirty="0"/>
              <a:t>動作</a:t>
            </a:r>
            <a:endParaRPr lang="en-US" altLang="ja-JP" dirty="0"/>
          </a:p>
          <a:p>
            <a:pPr lvl="1"/>
            <a:r>
              <a:rPr lang="en-US" altLang="ja-JP" dirty="0"/>
              <a:t>MCU</a:t>
            </a:r>
            <a:r>
              <a:rPr lang="ja-JP" altLang="en-US" dirty="0"/>
              <a:t>が呼び出したい相手に接続された「チップセレクト端子」の電圧を変化させることで呼び出し</a:t>
            </a:r>
            <a:endParaRPr lang="en-US" altLang="ja-JP" dirty="0"/>
          </a:p>
          <a:p>
            <a:pPr lvl="1"/>
            <a:r>
              <a:rPr lang="ja-JP" altLang="en-US" dirty="0"/>
              <a:t>周辺回路から</a:t>
            </a:r>
            <a:r>
              <a:rPr lang="en-US" altLang="ja-JP" dirty="0"/>
              <a:t>MCU</a:t>
            </a:r>
            <a:r>
              <a:rPr lang="ja-JP" altLang="en-US" dirty="0"/>
              <a:t>を呼び出すことはできない</a:t>
            </a:r>
          </a:p>
          <a:p>
            <a:pPr marL="0" indent="0">
              <a:buNone/>
            </a:pPr>
            <a:endParaRPr lang="ja-JP" altLang="en-US" dirty="0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3B1F96A-2FC1-8B40-6926-7CA143496CE3}"/>
              </a:ext>
            </a:extLst>
          </p:cNvPr>
          <p:cNvCxnSpPr/>
          <p:nvPr/>
        </p:nvCxnSpPr>
        <p:spPr>
          <a:xfrm>
            <a:off x="1559621" y="2634821"/>
            <a:ext cx="432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45771A2-24C8-53CF-B0DF-228921765B0A}"/>
              </a:ext>
            </a:extLst>
          </p:cNvPr>
          <p:cNvCxnSpPr/>
          <p:nvPr/>
        </p:nvCxnSpPr>
        <p:spPr>
          <a:xfrm>
            <a:off x="1559621" y="2828516"/>
            <a:ext cx="432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E0006A1-893A-20D5-8C47-0A96932C69F2}"/>
              </a:ext>
            </a:extLst>
          </p:cNvPr>
          <p:cNvCxnSpPr/>
          <p:nvPr/>
        </p:nvCxnSpPr>
        <p:spPr>
          <a:xfrm>
            <a:off x="1559621" y="2432276"/>
            <a:ext cx="4320000" cy="0"/>
          </a:xfrm>
          <a:prstGeom prst="line">
            <a:avLst/>
          </a:prstGeom>
          <a:ln w="28575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1ECA9107-405F-C291-2756-FDC2DF7331CD}"/>
              </a:ext>
            </a:extLst>
          </p:cNvPr>
          <p:cNvCxnSpPr/>
          <p:nvPr/>
        </p:nvCxnSpPr>
        <p:spPr>
          <a:xfrm>
            <a:off x="1559621" y="2248412"/>
            <a:ext cx="4320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657B831-B78C-4605-23D7-591C8612F8E3}"/>
              </a:ext>
            </a:extLst>
          </p:cNvPr>
          <p:cNvCxnSpPr>
            <a:cxnSpLocks/>
          </p:cNvCxnSpPr>
          <p:nvPr/>
        </p:nvCxnSpPr>
        <p:spPr>
          <a:xfrm rot="16200000">
            <a:off x="2038692" y="2184821"/>
            <a:ext cx="90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15C5B81-DCAA-2D32-C2DC-17206ACF66F4}"/>
              </a:ext>
            </a:extLst>
          </p:cNvPr>
          <p:cNvCxnSpPr>
            <a:cxnSpLocks/>
          </p:cNvCxnSpPr>
          <p:nvPr/>
        </p:nvCxnSpPr>
        <p:spPr>
          <a:xfrm rot="16200000">
            <a:off x="1848403" y="2288516"/>
            <a:ext cx="108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6FF78E7C-015C-BDE1-DC28-BCA6EDCBA57A}"/>
              </a:ext>
            </a:extLst>
          </p:cNvPr>
          <p:cNvCxnSpPr>
            <a:cxnSpLocks/>
          </p:cNvCxnSpPr>
          <p:nvPr/>
        </p:nvCxnSpPr>
        <p:spPr>
          <a:xfrm rot="16200000">
            <a:off x="2252881" y="2090276"/>
            <a:ext cx="684000" cy="0"/>
          </a:xfrm>
          <a:prstGeom prst="line">
            <a:avLst/>
          </a:prstGeom>
          <a:ln w="28575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20CA5339-8457-FD9D-B334-0DDA9882E52A}"/>
              </a:ext>
            </a:extLst>
          </p:cNvPr>
          <p:cNvCxnSpPr>
            <a:cxnSpLocks/>
          </p:cNvCxnSpPr>
          <p:nvPr/>
        </p:nvCxnSpPr>
        <p:spPr>
          <a:xfrm rot="16200000">
            <a:off x="2460868" y="1996412"/>
            <a:ext cx="504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ED397B3-7BE3-42D3-608F-A7BB87F9F490}"/>
              </a:ext>
            </a:extLst>
          </p:cNvPr>
          <p:cNvSpPr txBox="1"/>
          <p:nvPr/>
        </p:nvSpPr>
        <p:spPr>
          <a:xfrm>
            <a:off x="5860612" y="2743933"/>
            <a:ext cx="10005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電源</a:t>
            </a:r>
            <a:r>
              <a:rPr kumimoji="1" lang="en-US" altLang="ja-JP" sz="1200" dirty="0"/>
              <a:t> : VDD</a:t>
            </a:r>
            <a:endParaRPr kumimoji="1" lang="ja-JP" altLang="en-US" sz="12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2DF5B2B-DD44-72CD-A0AB-79FFCE997BC8}"/>
              </a:ext>
            </a:extLst>
          </p:cNvPr>
          <p:cNvSpPr txBox="1"/>
          <p:nvPr/>
        </p:nvSpPr>
        <p:spPr>
          <a:xfrm>
            <a:off x="5860612" y="2516032"/>
            <a:ext cx="1159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アース</a:t>
            </a:r>
            <a:r>
              <a:rPr kumimoji="1" lang="en-US" altLang="ja-JP" sz="1200" dirty="0"/>
              <a:t> : GND</a:t>
            </a:r>
            <a:endParaRPr kumimoji="1" lang="ja-JP" altLang="en-US" sz="12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D485497-A0BA-76C7-FF3B-C1F4E94B1689}"/>
              </a:ext>
            </a:extLst>
          </p:cNvPr>
          <p:cNvSpPr txBox="1"/>
          <p:nvPr/>
        </p:nvSpPr>
        <p:spPr>
          <a:xfrm>
            <a:off x="5860612" y="2318006"/>
            <a:ext cx="2662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マスター出力</a:t>
            </a:r>
            <a:r>
              <a:rPr kumimoji="1" lang="en-US" altLang="ja-JP" sz="1200" dirty="0"/>
              <a:t>,</a:t>
            </a:r>
            <a:r>
              <a:rPr kumimoji="1" lang="ja-JP" altLang="en-US" sz="1200" dirty="0"/>
              <a:t>スレーブ入力 </a:t>
            </a:r>
            <a:r>
              <a:rPr kumimoji="1" lang="en-US" altLang="ja-JP" sz="1200" dirty="0"/>
              <a:t>: MOSI</a:t>
            </a:r>
            <a:endParaRPr kumimoji="1" lang="ja-JP" altLang="en-US" sz="1200" dirty="0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017EAFA-0C28-2D34-3AC6-C26671541B70}"/>
              </a:ext>
            </a:extLst>
          </p:cNvPr>
          <p:cNvCxnSpPr>
            <a:cxnSpLocks/>
          </p:cNvCxnSpPr>
          <p:nvPr/>
        </p:nvCxnSpPr>
        <p:spPr>
          <a:xfrm rot="16200000">
            <a:off x="3895514" y="2184821"/>
            <a:ext cx="90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786B726F-1083-7752-9530-494B6A6CC94B}"/>
              </a:ext>
            </a:extLst>
          </p:cNvPr>
          <p:cNvCxnSpPr>
            <a:cxnSpLocks/>
          </p:cNvCxnSpPr>
          <p:nvPr/>
        </p:nvCxnSpPr>
        <p:spPr>
          <a:xfrm rot="16200000">
            <a:off x="3705225" y="2288516"/>
            <a:ext cx="1080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047ED042-E940-B1E8-8F9A-F59A733E1EEA}"/>
              </a:ext>
            </a:extLst>
          </p:cNvPr>
          <p:cNvCxnSpPr>
            <a:cxnSpLocks/>
          </p:cNvCxnSpPr>
          <p:nvPr/>
        </p:nvCxnSpPr>
        <p:spPr>
          <a:xfrm rot="16200000">
            <a:off x="4109703" y="2090276"/>
            <a:ext cx="684000" cy="0"/>
          </a:xfrm>
          <a:prstGeom prst="line">
            <a:avLst/>
          </a:prstGeom>
          <a:ln w="28575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8532DC4-B25C-8D24-FB81-A259C6E79755}"/>
              </a:ext>
            </a:extLst>
          </p:cNvPr>
          <p:cNvCxnSpPr>
            <a:cxnSpLocks/>
          </p:cNvCxnSpPr>
          <p:nvPr/>
        </p:nvCxnSpPr>
        <p:spPr>
          <a:xfrm rot="16200000">
            <a:off x="4317690" y="1996412"/>
            <a:ext cx="50400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3A208A9-1A11-0BF5-8AB5-9BF37D70D4F4}"/>
              </a:ext>
            </a:extLst>
          </p:cNvPr>
          <p:cNvSpPr txBox="1"/>
          <p:nvPr/>
        </p:nvSpPr>
        <p:spPr>
          <a:xfrm>
            <a:off x="3225603" y="1265689"/>
            <a:ext cx="369332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l"/>
            <a:r>
              <a:rPr kumimoji="1" lang="ja-JP" altLang="en-US" sz="1200" dirty="0"/>
              <a:t>スレーブ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61100A5-6BCF-0C11-3819-EFF108E9D885}"/>
              </a:ext>
            </a:extLst>
          </p:cNvPr>
          <p:cNvSpPr txBox="1"/>
          <p:nvPr/>
        </p:nvSpPr>
        <p:spPr>
          <a:xfrm>
            <a:off x="5105262" y="1280994"/>
            <a:ext cx="369332" cy="7078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l"/>
            <a:r>
              <a:rPr kumimoji="1" lang="ja-JP" altLang="en-US" sz="1200" dirty="0"/>
              <a:t>スレーブ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AADA6B8-D0AE-3382-EBD6-E2D085681DC6}"/>
              </a:ext>
            </a:extLst>
          </p:cNvPr>
          <p:cNvSpPr/>
          <p:nvPr/>
        </p:nvSpPr>
        <p:spPr>
          <a:xfrm>
            <a:off x="1878649" y="1262840"/>
            <a:ext cx="1375533" cy="522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周辺回路</a:t>
            </a:r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A289A564-A424-31F1-CFE1-DD9512C7EDC3}"/>
              </a:ext>
            </a:extLst>
          </p:cNvPr>
          <p:cNvSpPr/>
          <p:nvPr/>
        </p:nvSpPr>
        <p:spPr>
          <a:xfrm>
            <a:off x="3751980" y="1294902"/>
            <a:ext cx="1375533" cy="522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周辺回路</a:t>
            </a:r>
            <a:r>
              <a:rPr kumimoji="1" lang="en-US" altLang="ja-JP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8C593B0-F989-3631-BFB8-5D1D3B9024E4}"/>
              </a:ext>
            </a:extLst>
          </p:cNvPr>
          <p:cNvSpPr/>
          <p:nvPr/>
        </p:nvSpPr>
        <p:spPr>
          <a:xfrm>
            <a:off x="997333" y="2155315"/>
            <a:ext cx="227047" cy="2100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BFD142DD-A787-143F-E03C-4AB934CDFC46}"/>
              </a:ext>
            </a:extLst>
          </p:cNvPr>
          <p:cNvSpPr/>
          <p:nvPr/>
        </p:nvSpPr>
        <p:spPr>
          <a:xfrm>
            <a:off x="1324668" y="2161038"/>
            <a:ext cx="227047" cy="2100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F4583F5-51E8-E5E4-F4B5-443AB79B3293}"/>
              </a:ext>
            </a:extLst>
          </p:cNvPr>
          <p:cNvSpPr txBox="1"/>
          <p:nvPr/>
        </p:nvSpPr>
        <p:spPr>
          <a:xfrm>
            <a:off x="5860612" y="2098142"/>
            <a:ext cx="26629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マスター入力</a:t>
            </a:r>
            <a:r>
              <a:rPr kumimoji="1" lang="en-US" altLang="ja-JP" sz="1200" dirty="0"/>
              <a:t>,</a:t>
            </a:r>
            <a:r>
              <a:rPr kumimoji="1" lang="ja-JP" altLang="en-US" sz="1200" dirty="0"/>
              <a:t>スレーブ出力 </a:t>
            </a:r>
            <a:r>
              <a:rPr kumimoji="1" lang="en-US" altLang="ja-JP" sz="1200" dirty="0"/>
              <a:t>: MISO</a:t>
            </a:r>
            <a:endParaRPr kumimoji="1" lang="ja-JP" altLang="en-US" sz="1200" dirty="0"/>
          </a:p>
        </p:txBody>
      </p: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62FA1385-4653-46EE-A350-195078DAE07A}"/>
              </a:ext>
            </a:extLst>
          </p:cNvPr>
          <p:cNvCxnSpPr>
            <a:cxnSpLocks/>
            <a:stCxn id="31" idx="0"/>
            <a:endCxn id="28" idx="0"/>
          </p:cNvCxnSpPr>
          <p:nvPr/>
        </p:nvCxnSpPr>
        <p:spPr>
          <a:xfrm rot="5400000" flipH="1" flipV="1">
            <a:off x="1553205" y="1147827"/>
            <a:ext cx="898198" cy="1128224"/>
          </a:xfrm>
          <a:prstGeom prst="bentConnector3">
            <a:avLst>
              <a:gd name="adj1" fmla="val 112972"/>
            </a:avLst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コネクタ: カギ線 36">
            <a:extLst>
              <a:ext uri="{FF2B5EF4-FFF2-40B4-BE49-F238E27FC236}">
                <a16:creationId xmlns:a16="http://schemas.microsoft.com/office/drawing/2014/main" id="{7E8A76A4-53D6-5148-C5C2-D14A862915D2}"/>
              </a:ext>
            </a:extLst>
          </p:cNvPr>
          <p:cNvCxnSpPr>
            <a:stCxn id="30" idx="0"/>
            <a:endCxn id="29" idx="0"/>
          </p:cNvCxnSpPr>
          <p:nvPr/>
        </p:nvCxnSpPr>
        <p:spPr>
          <a:xfrm rot="5400000" flipH="1" flipV="1">
            <a:off x="2345096" y="60664"/>
            <a:ext cx="860413" cy="3328890"/>
          </a:xfrm>
          <a:prstGeom prst="bentConnector3">
            <a:avLst>
              <a:gd name="adj1" fmla="val 151252"/>
            </a:avLst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31D89D5-2037-6303-5D70-3FBA2A4C0E8E}"/>
              </a:ext>
            </a:extLst>
          </p:cNvPr>
          <p:cNvSpPr/>
          <p:nvPr/>
        </p:nvSpPr>
        <p:spPr>
          <a:xfrm>
            <a:off x="808212" y="2106072"/>
            <a:ext cx="951151" cy="8495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MCU</a:t>
            </a: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33855EE5-9627-5002-5490-96932CE0EFEC}"/>
              </a:ext>
            </a:extLst>
          </p:cNvPr>
          <p:cNvSpPr txBox="1"/>
          <p:nvPr/>
        </p:nvSpPr>
        <p:spPr>
          <a:xfrm>
            <a:off x="889370" y="296127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マスター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BAF97BB6-0871-65E1-6577-AB46FBC7BAC7}"/>
              </a:ext>
            </a:extLst>
          </p:cNvPr>
          <p:cNvSpPr txBox="1"/>
          <p:nvPr/>
        </p:nvSpPr>
        <p:spPr>
          <a:xfrm>
            <a:off x="1513418" y="893991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/>
              <a:t>チップセレクト</a:t>
            </a: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333B48DF-B2FA-551F-1E4F-10045CF4B2C1}"/>
              </a:ext>
            </a:extLst>
          </p:cNvPr>
          <p:cNvSpPr/>
          <p:nvPr/>
        </p:nvSpPr>
        <p:spPr>
          <a:xfrm>
            <a:off x="5691255" y="938818"/>
            <a:ext cx="3044067" cy="624526"/>
          </a:xfrm>
          <a:prstGeom prst="roundRect">
            <a:avLst/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SD, </a:t>
            </a:r>
            <a:r>
              <a:rPr kumimoji="1" lang="ja-JP" altLang="en-US" dirty="0">
                <a:solidFill>
                  <a:schemeClr val="tx1"/>
                </a:solidFill>
              </a:rPr>
              <a:t>イーサネット等は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この</a:t>
            </a:r>
            <a:r>
              <a:rPr kumimoji="1" lang="en-US" altLang="ja-JP" dirty="0">
                <a:solidFill>
                  <a:schemeClr val="tx1"/>
                </a:solidFill>
              </a:rPr>
              <a:t>I/F</a:t>
            </a:r>
            <a:r>
              <a:rPr kumimoji="1" lang="ja-JP" altLang="en-US" dirty="0">
                <a:solidFill>
                  <a:schemeClr val="tx1"/>
                </a:solidFill>
              </a:rPr>
              <a:t>を利用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0AEC69FB-CD9A-45EB-CC8C-8411E4445B8E}"/>
              </a:ext>
            </a:extLst>
          </p:cNvPr>
          <p:cNvSpPr txBox="1"/>
          <p:nvPr/>
        </p:nvSpPr>
        <p:spPr>
          <a:xfrm>
            <a:off x="5617457" y="1873392"/>
            <a:ext cx="3243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dirty="0">
                <a:solidFill>
                  <a:srgbClr val="FF0000"/>
                </a:solidFill>
              </a:rPr>
              <a:t>端子の名前</a:t>
            </a:r>
            <a:r>
              <a:rPr kumimoji="1" lang="en-US" altLang="ja-JP" sz="1200" dirty="0">
                <a:solidFill>
                  <a:srgbClr val="FF0000"/>
                </a:solidFill>
              </a:rPr>
              <a:t>(</a:t>
            </a:r>
            <a:r>
              <a:rPr kumimoji="1" lang="ja-JP" altLang="en-US" sz="1200" dirty="0">
                <a:solidFill>
                  <a:srgbClr val="FF0000"/>
                </a:solidFill>
              </a:rPr>
              <a:t>呼び方</a:t>
            </a:r>
            <a:r>
              <a:rPr kumimoji="1" lang="en-US" altLang="ja-JP" sz="1200" dirty="0">
                <a:solidFill>
                  <a:srgbClr val="FF0000"/>
                </a:solidFill>
              </a:rPr>
              <a:t>)</a:t>
            </a:r>
            <a:r>
              <a:rPr kumimoji="1" lang="ja-JP" altLang="en-US" sz="1200" dirty="0">
                <a:solidFill>
                  <a:srgbClr val="FF0000"/>
                </a:solidFill>
              </a:rPr>
              <a:t>はいくつかの流派がある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E5D80DD4-DAB9-BB40-7DE4-6CC56CB3085C}"/>
              </a:ext>
            </a:extLst>
          </p:cNvPr>
          <p:cNvSpPr txBox="1"/>
          <p:nvPr/>
        </p:nvSpPr>
        <p:spPr>
          <a:xfrm>
            <a:off x="5066515" y="3214626"/>
            <a:ext cx="3940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dirty="0" err="1">
                <a:solidFill>
                  <a:srgbClr val="FF0000"/>
                </a:solidFill>
              </a:rPr>
              <a:t>Seeed</a:t>
            </a:r>
            <a:r>
              <a:rPr kumimoji="1" lang="en-US" altLang="ja-JP" dirty="0">
                <a:solidFill>
                  <a:srgbClr val="FF0000"/>
                </a:solidFill>
              </a:rPr>
              <a:t> Studio</a:t>
            </a:r>
            <a:r>
              <a:rPr kumimoji="1" lang="ja-JP" altLang="en-US" dirty="0">
                <a:solidFill>
                  <a:srgbClr val="FF0000"/>
                </a:solidFill>
              </a:rPr>
              <a:t>の</a:t>
            </a:r>
            <a:r>
              <a:rPr kumimoji="1" lang="en-US" altLang="ja-JP" dirty="0">
                <a:solidFill>
                  <a:srgbClr val="FF0000"/>
                </a:solidFill>
              </a:rPr>
              <a:t>Grove</a:t>
            </a:r>
            <a:r>
              <a:rPr kumimoji="1" lang="ja-JP" altLang="en-US" dirty="0">
                <a:solidFill>
                  <a:srgbClr val="FF0000"/>
                </a:solidFill>
              </a:rPr>
              <a:t>は未サポート</a:t>
            </a:r>
          </a:p>
        </p:txBody>
      </p:sp>
    </p:spTree>
    <p:extLst>
      <p:ext uri="{BB962C8B-B14F-4D97-AF65-F5344CB8AC3E}">
        <p14:creationId xmlns:p14="http://schemas.microsoft.com/office/powerpoint/2010/main" val="4205939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F17E68-301C-6A1C-D334-D191A4B50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アクチュエータ端末として動作する</a:t>
            </a:r>
            <a:r>
              <a:rPr kumimoji="1" lang="en-US" altLang="ja-JP" dirty="0"/>
              <a:t>Arduino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E41566-8280-0748-8F84-2BB00D12B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ja-JP" altLang="en-US" dirty="0"/>
              <a:t>機種に対する制約</a:t>
            </a:r>
            <a:endParaRPr lang="en-US" altLang="ja-JP" dirty="0"/>
          </a:p>
          <a:p>
            <a:pPr lvl="1"/>
            <a:r>
              <a:rPr kumimoji="1" lang="ja-JP" altLang="en-US" dirty="0"/>
              <a:t>メインメモリ</a:t>
            </a:r>
            <a:r>
              <a:rPr kumimoji="1" lang="en-US" altLang="ja-JP" dirty="0"/>
              <a:t>(SRAM)</a:t>
            </a:r>
            <a:r>
              <a:rPr kumimoji="1" lang="ja-JP" altLang="en-US" dirty="0"/>
              <a:t>やプログラムサイズの大きさから，比較的高性能な機種が必要</a:t>
            </a:r>
            <a:endParaRPr kumimoji="1" lang="en-US" altLang="ja-JP" dirty="0"/>
          </a:p>
          <a:p>
            <a:pPr lvl="1"/>
            <a:endParaRPr kumimoji="1" lang="en-US" altLang="ja-JP" dirty="0"/>
          </a:p>
          <a:p>
            <a:r>
              <a:rPr kumimoji="1" lang="en-US" altLang="ja-JP" dirty="0"/>
              <a:t>Arduino</a:t>
            </a:r>
            <a:r>
              <a:rPr kumimoji="1" lang="ja-JP" altLang="en-US" dirty="0"/>
              <a:t>公式の機種で動作確認できているもの</a:t>
            </a:r>
            <a:endParaRPr kumimoji="1" lang="en-US" altLang="ja-JP" dirty="0"/>
          </a:p>
          <a:p>
            <a:pPr lvl="1"/>
            <a:r>
              <a:rPr lang="en-US" altLang="ja-JP" dirty="0"/>
              <a:t>MKR</a:t>
            </a:r>
            <a:r>
              <a:rPr lang="ja-JP" altLang="en-US" dirty="0"/>
              <a:t>ファミリ</a:t>
            </a:r>
            <a:endParaRPr lang="en-US" altLang="ja-JP" dirty="0"/>
          </a:p>
          <a:p>
            <a:pPr lvl="2"/>
            <a:r>
              <a:rPr lang="en-US" altLang="ja-JP" dirty="0"/>
              <a:t>Zero, WiFi1010</a:t>
            </a:r>
          </a:p>
          <a:p>
            <a:pPr lvl="1"/>
            <a:r>
              <a:rPr lang="en-US" altLang="ja-JP" dirty="0"/>
              <a:t>Nano</a:t>
            </a:r>
            <a:r>
              <a:rPr lang="ja-JP" altLang="en-US" dirty="0"/>
              <a:t>ファミリ</a:t>
            </a:r>
            <a:endParaRPr lang="en-US" altLang="ja-JP" dirty="0"/>
          </a:p>
          <a:p>
            <a:pPr lvl="2"/>
            <a:r>
              <a:rPr lang="en-US" altLang="ja-JP" dirty="0"/>
              <a:t>Nano 33 IoT, </a:t>
            </a:r>
            <a:r>
              <a:rPr lang="en-US" altLang="ja-JP" dirty="0">
                <a:solidFill>
                  <a:srgbClr val="FF0000"/>
                </a:solidFill>
              </a:rPr>
              <a:t>Nano ESP32</a:t>
            </a:r>
          </a:p>
          <a:p>
            <a:pPr lvl="1"/>
            <a:r>
              <a:rPr kumimoji="1" lang="en-US" altLang="ja-JP" dirty="0"/>
              <a:t>Classic</a:t>
            </a:r>
            <a:r>
              <a:rPr kumimoji="1" lang="ja-JP" altLang="en-US" dirty="0"/>
              <a:t>ファミリ</a:t>
            </a:r>
            <a:endParaRPr kumimoji="1" lang="en-US" altLang="ja-JP" dirty="0"/>
          </a:p>
          <a:p>
            <a:pPr lvl="2"/>
            <a:r>
              <a:rPr lang="en-US" altLang="ja-JP" dirty="0"/>
              <a:t>Uno R4</a:t>
            </a:r>
            <a:r>
              <a:rPr lang="ja-JP" altLang="en-US" dirty="0"/>
              <a:t>系列</a:t>
            </a:r>
            <a:r>
              <a:rPr lang="en-US" altLang="ja-JP" dirty="0"/>
              <a:t> (minima, </a:t>
            </a:r>
            <a:r>
              <a:rPr lang="en-US" altLang="ja-JP" dirty="0" err="1">
                <a:solidFill>
                  <a:srgbClr val="FF0000"/>
                </a:solidFill>
              </a:rPr>
              <a:t>WiFi</a:t>
            </a:r>
            <a:r>
              <a:rPr lang="en-US" altLang="ja-JP" dirty="0"/>
              <a:t>)</a:t>
            </a:r>
            <a:endParaRPr kumimoji="1" lang="en-US" altLang="ja-JP" dirty="0"/>
          </a:p>
          <a:p>
            <a:pPr lvl="1"/>
            <a:r>
              <a:rPr lang="en-US" altLang="ja-JP" dirty="0"/>
              <a:t>Mega</a:t>
            </a:r>
            <a:r>
              <a:rPr lang="ja-JP" altLang="en-US" dirty="0"/>
              <a:t>ファミリ</a:t>
            </a:r>
            <a:endParaRPr lang="en-US" altLang="ja-JP" dirty="0"/>
          </a:p>
          <a:p>
            <a:pPr lvl="2"/>
            <a:r>
              <a:rPr kumimoji="1" lang="en-US" altLang="ja-JP" dirty="0">
                <a:solidFill>
                  <a:srgbClr val="FF0000"/>
                </a:solidFill>
              </a:rPr>
              <a:t>Giga R1 </a:t>
            </a:r>
            <a:r>
              <a:rPr kumimoji="1" lang="en-US" altLang="ja-JP" dirty="0" err="1">
                <a:solidFill>
                  <a:srgbClr val="FF0000"/>
                </a:solidFill>
              </a:rPr>
              <a:t>WiFi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06B131CA-3A19-B717-CDEC-5BA1D55613C3}"/>
              </a:ext>
            </a:extLst>
          </p:cNvPr>
          <p:cNvSpPr/>
          <p:nvPr/>
        </p:nvSpPr>
        <p:spPr>
          <a:xfrm>
            <a:off x="4251485" y="2844000"/>
            <a:ext cx="4658515" cy="1298935"/>
          </a:xfrm>
          <a:prstGeom prst="roundRect">
            <a:avLst/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rgbClr val="FF0000"/>
                </a:solidFill>
              </a:rPr>
              <a:t>赤字</a:t>
            </a:r>
            <a:r>
              <a:rPr kumimoji="1" lang="ja-JP" altLang="en-US" dirty="0">
                <a:solidFill>
                  <a:schemeClr val="tx1"/>
                </a:solidFill>
              </a:rPr>
              <a:t>の機種</a:t>
            </a:r>
            <a:r>
              <a:rPr kumimoji="1" lang="ja-JP" altLang="en-US">
                <a:solidFill>
                  <a:schemeClr val="tx1"/>
                </a:solidFill>
              </a:rPr>
              <a:t>が今回使用する</a:t>
            </a:r>
            <a:r>
              <a:rPr kumimoji="1" lang="ja-JP" altLang="en-US" dirty="0">
                <a:solidFill>
                  <a:schemeClr val="tx1"/>
                </a:solidFill>
              </a:rPr>
              <a:t>もの</a:t>
            </a:r>
          </a:p>
        </p:txBody>
      </p:sp>
    </p:spTree>
    <p:extLst>
      <p:ext uri="{BB962C8B-B14F-4D97-AF65-F5344CB8AC3E}">
        <p14:creationId xmlns:p14="http://schemas.microsoft.com/office/powerpoint/2010/main" val="1910514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4E48A4-46F6-3BB5-AEBD-FAF01382F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その他の注意</a:t>
            </a:r>
            <a:r>
              <a:rPr kumimoji="1" lang="ja-JP" altLang="en-US" dirty="0"/>
              <a:t>事項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74537F-1AB7-1437-1446-651EBD277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使用</a:t>
            </a:r>
            <a:r>
              <a:rPr kumimoji="1" lang="ja-JP" altLang="en-US" dirty="0"/>
              <a:t>機種が少ない理由</a:t>
            </a:r>
            <a:endParaRPr kumimoji="1" lang="en-US" altLang="ja-JP" dirty="0"/>
          </a:p>
          <a:p>
            <a:pPr lvl="1"/>
            <a:r>
              <a:rPr lang="ja-JP" altLang="en-US" dirty="0"/>
              <a:t>特定の</a:t>
            </a:r>
            <a:r>
              <a:rPr lang="en-US" altLang="ja-JP" dirty="0"/>
              <a:t>MCU</a:t>
            </a:r>
            <a:r>
              <a:rPr lang="ja-JP" altLang="en-US" dirty="0"/>
              <a:t>でしか動作しないアクチュエータ</a:t>
            </a:r>
            <a:endParaRPr lang="en-US" altLang="ja-JP" dirty="0"/>
          </a:p>
          <a:p>
            <a:pPr lvl="1"/>
            <a:r>
              <a:rPr lang="ja-JP" altLang="en-US" dirty="0"/>
              <a:t>動作電圧が</a:t>
            </a:r>
            <a:r>
              <a:rPr lang="en-US" altLang="ja-JP" dirty="0"/>
              <a:t>5V</a:t>
            </a:r>
            <a:r>
              <a:rPr lang="ja-JP" altLang="en-US" dirty="0"/>
              <a:t>限定のアクチュエータ</a:t>
            </a:r>
            <a:endParaRPr lang="en-US" altLang="ja-JP" dirty="0"/>
          </a:p>
          <a:p>
            <a:pPr lvl="1"/>
            <a:r>
              <a:rPr lang="en-US" altLang="ja-JP" dirty="0"/>
              <a:t>Giga R1</a:t>
            </a:r>
            <a:r>
              <a:rPr lang="ja-JP" altLang="en-US" dirty="0"/>
              <a:t>でしか動作しないアクチュエータ</a:t>
            </a:r>
            <a:endParaRPr lang="en-US" altLang="ja-JP" dirty="0"/>
          </a:p>
          <a:p>
            <a:pPr lvl="2"/>
            <a:r>
              <a:rPr lang="ja-JP" altLang="en-US" dirty="0"/>
              <a:t>グラフィックディスプレイ</a:t>
            </a:r>
            <a:r>
              <a:rPr lang="en-US" altLang="ja-JP" dirty="0"/>
              <a:t>(Giga</a:t>
            </a:r>
            <a:r>
              <a:rPr lang="ja-JP" altLang="en-US" dirty="0"/>
              <a:t> </a:t>
            </a:r>
            <a:r>
              <a:rPr lang="en-US" altLang="ja-JP" dirty="0"/>
              <a:t>R1</a:t>
            </a:r>
            <a:r>
              <a:rPr lang="ja-JP" altLang="en-US" dirty="0"/>
              <a:t>専用</a:t>
            </a:r>
            <a:r>
              <a:rPr lang="en-US" altLang="ja-JP" dirty="0"/>
              <a:t>)</a:t>
            </a:r>
          </a:p>
          <a:p>
            <a:pPr lvl="1"/>
            <a:endParaRPr kumimoji="1" lang="en-US" altLang="ja-JP" dirty="0"/>
          </a:p>
          <a:p>
            <a:r>
              <a:rPr kumimoji="1" lang="en-US" altLang="ja-JP" dirty="0"/>
              <a:t>Giga R1 </a:t>
            </a:r>
            <a:r>
              <a:rPr kumimoji="1" lang="en-US" altLang="ja-JP" dirty="0" err="1"/>
              <a:t>WiFi</a:t>
            </a:r>
            <a:r>
              <a:rPr kumimoji="1" lang="en-US" altLang="ja-JP" dirty="0"/>
              <a:t> : </a:t>
            </a:r>
            <a:r>
              <a:rPr kumimoji="1" lang="ja-JP" altLang="en-US" dirty="0"/>
              <a:t>取り扱い注意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Giga</a:t>
            </a:r>
            <a:r>
              <a:rPr kumimoji="1" lang="ja-JP" altLang="en-US" dirty="0"/>
              <a:t>の</a:t>
            </a:r>
            <a:r>
              <a:rPr kumimoji="1" lang="en-US" altLang="ja-JP" dirty="0" err="1"/>
              <a:t>WiFi</a:t>
            </a:r>
            <a:r>
              <a:rPr kumimoji="1" lang="ja-JP" altLang="en-US" dirty="0"/>
              <a:t>チップは内蔵アンテナが無いため，外部アンテナ</a:t>
            </a:r>
            <a:r>
              <a:rPr lang="ja-JP" altLang="en-US" dirty="0"/>
              <a:t>必須</a:t>
            </a:r>
            <a:endParaRPr lang="en-US" altLang="ja-JP" dirty="0"/>
          </a:p>
          <a:p>
            <a:pPr lvl="2"/>
            <a:r>
              <a:rPr kumimoji="1" lang="ja-JP" altLang="en-US" dirty="0"/>
              <a:t>アンテナが丈夫ではない</a:t>
            </a:r>
          </a:p>
        </p:txBody>
      </p:sp>
    </p:spTree>
    <p:extLst>
      <p:ext uri="{BB962C8B-B14F-4D97-AF65-F5344CB8AC3E}">
        <p14:creationId xmlns:p14="http://schemas.microsoft.com/office/powerpoint/2010/main" val="1769515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3734482"/>
      </p:ext>
    </p:extLst>
  </p:cSld>
  <p:clrMapOvr>
    <a:masterClrMapping/>
  </p:clrMapOvr>
</p:sld>
</file>

<file path=ppt/theme/theme1.xml><?xml version="1.0" encoding="utf-8"?>
<a:theme xmlns:a="http://schemas.openxmlformats.org/drawingml/2006/main" name="デジタルリテラシ">
  <a:themeElements>
    <a:clrScheme name="F_Tool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EA0000"/>
      </a:accent1>
      <a:accent2>
        <a:srgbClr val="FF8000"/>
      </a:accent2>
      <a:accent3>
        <a:srgbClr val="D80084"/>
      </a:accent3>
      <a:accent4>
        <a:srgbClr val="2400B0"/>
      </a:accent4>
      <a:accent5>
        <a:srgbClr val="61D600"/>
      </a:accent5>
      <a:accent6>
        <a:srgbClr val="008224"/>
      </a:accent6>
      <a:hlink>
        <a:srgbClr val="0563C1"/>
      </a:hlink>
      <a:folHlink>
        <a:srgbClr val="954F72"/>
      </a:folHlink>
    </a:clrScheme>
    <a:fontScheme name="F_Tool_JP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 kumimoji="1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89D5AA51-82D9-46A9-B088-81940A62FD39}" vid="{9DA0BA57-D874-448D-82DD-D6F8E40BAE5A}"/>
    </a:ext>
  </a:extLst>
</a:theme>
</file>

<file path=ppt/theme/theme2.xml><?xml version="1.0" encoding="utf-8"?>
<a:theme xmlns:a="http://schemas.openxmlformats.org/drawingml/2006/main" name="Office テーマ">
  <a:themeElements>
    <a:clrScheme name="F_Tool_8_EN">
      <a:dk1>
        <a:srgbClr val="000000"/>
      </a:dk1>
      <a:lt1>
        <a:sysClr val="window" lastClr="FFFFFF"/>
      </a:lt1>
      <a:dk2>
        <a:srgbClr val="D51C89"/>
      </a:dk2>
      <a:lt2>
        <a:srgbClr val="E60000"/>
      </a:lt2>
      <a:accent1>
        <a:srgbClr val="1813B1"/>
      </a:accent1>
      <a:accent2>
        <a:srgbClr val="00ECF4"/>
      </a:accent2>
      <a:accent3>
        <a:srgbClr val="75D700"/>
      </a:accent3>
      <a:accent4>
        <a:srgbClr val="00812F"/>
      </a:accent4>
      <a:accent5>
        <a:srgbClr val="FFE800"/>
      </a:accent5>
      <a:accent6>
        <a:srgbClr val="FF8100"/>
      </a:accent6>
      <a:hlink>
        <a:srgbClr val="0563C1"/>
      </a:hlink>
      <a:folHlink>
        <a:srgbClr val="954F72"/>
      </a:folHlink>
    </a:clrScheme>
    <a:fontScheme name="F_Tool_8_EN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F_Tool_8_EN">
      <a:dk1>
        <a:srgbClr val="000000"/>
      </a:dk1>
      <a:lt1>
        <a:sysClr val="window" lastClr="FFFFFF"/>
      </a:lt1>
      <a:dk2>
        <a:srgbClr val="D51C89"/>
      </a:dk2>
      <a:lt2>
        <a:srgbClr val="E60000"/>
      </a:lt2>
      <a:accent1>
        <a:srgbClr val="1813B1"/>
      </a:accent1>
      <a:accent2>
        <a:srgbClr val="00ECF4"/>
      </a:accent2>
      <a:accent3>
        <a:srgbClr val="75D700"/>
      </a:accent3>
      <a:accent4>
        <a:srgbClr val="00812F"/>
      </a:accent4>
      <a:accent5>
        <a:srgbClr val="FFE800"/>
      </a:accent5>
      <a:accent6>
        <a:srgbClr val="FF8100"/>
      </a:accent6>
      <a:hlink>
        <a:srgbClr val="0563C1"/>
      </a:hlink>
      <a:folHlink>
        <a:srgbClr val="954F72"/>
      </a:folHlink>
    </a:clrScheme>
    <a:fontScheme name="F_Tool_8_EN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個人</Template>
  <TotalTime>1149</TotalTime>
  <Words>1344</Words>
  <Application>Microsoft Office PowerPoint</Application>
  <PresentationFormat>画面に合わせる (16:9)</PresentationFormat>
  <Paragraphs>306</Paragraphs>
  <Slides>22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7" baseType="lpstr">
      <vt:lpstr>メイリオ</vt:lpstr>
      <vt:lpstr>Arial</vt:lpstr>
      <vt:lpstr>Times New Roman</vt:lpstr>
      <vt:lpstr>Wingdings</vt:lpstr>
      <vt:lpstr>デジタルリテラシ</vt:lpstr>
      <vt:lpstr>マイコン&amp;Arduino入門</vt:lpstr>
      <vt:lpstr>本プロジェクトの対象 : アクチュエータ端末</vt:lpstr>
      <vt:lpstr>組み込みシステム用マイコン : プロの世界</vt:lpstr>
      <vt:lpstr>オープンソースハードウェア(Arduino等)</vt:lpstr>
      <vt:lpstr>Arduinoの代表的な機種</vt:lpstr>
      <vt:lpstr>Arduinoにおけるソフトウェア開発</vt:lpstr>
      <vt:lpstr>Arduinoに搭載されているMCU</vt:lpstr>
      <vt:lpstr>Arduino互換機(完全互換以外)</vt:lpstr>
      <vt:lpstr>周辺回路接続 (1) : シールド</vt:lpstr>
      <vt:lpstr>周辺回路接続 (2) : Grove System</vt:lpstr>
      <vt:lpstr>周辺回路接続 (3) : Grove System</vt:lpstr>
      <vt:lpstr>周辺回路接続 (4) : Grove変換ケーブル</vt:lpstr>
      <vt:lpstr>Groveコネクタの注意事項</vt:lpstr>
      <vt:lpstr>周辺回路とマイコンを接続するインターフェース</vt:lpstr>
      <vt:lpstr>周辺回路とのインターフェース(1) : デジタル</vt:lpstr>
      <vt:lpstr>周辺回路とのインターフェース(2) : アナログ入力</vt:lpstr>
      <vt:lpstr>周辺回路とのインターフェース(2) : アナログ出力</vt:lpstr>
      <vt:lpstr>周辺回路とのインターフェース(3) : I2C</vt:lpstr>
      <vt:lpstr>周辺回路とのインターフェース(4) : SPI</vt:lpstr>
      <vt:lpstr>アクチュエータ端末として動作するArduino</vt:lpstr>
      <vt:lpstr>その他の注意事項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野呂　正明</dc:creator>
  <cp:lastModifiedBy>り ぶ</cp:lastModifiedBy>
  <cp:revision>1</cp:revision>
  <cp:lastPrinted>2022-11-21T08:07:27Z</cp:lastPrinted>
  <dcterms:created xsi:type="dcterms:W3CDTF">2023-12-11T02:17:30Z</dcterms:created>
  <dcterms:modified xsi:type="dcterms:W3CDTF">2026-06-25T05:31:14Z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295cc1-d279-42ac-ab4d-3b0f4fece050_Enabled">
    <vt:lpwstr>true</vt:lpwstr>
  </property>
  <property fmtid="{D5CDD505-2E9C-101B-9397-08002B2CF9AE}" pid="3" name="MSIP_Label_a7295cc1-d279-42ac-ab4d-3b0f4fece050_SetDate">
    <vt:lpwstr>2021-10-28T00:05:04Z</vt:lpwstr>
  </property>
  <property fmtid="{D5CDD505-2E9C-101B-9397-08002B2CF9AE}" pid="4" name="MSIP_Label_a7295cc1-d279-42ac-ab4d-3b0f4fece050_Method">
    <vt:lpwstr>Standard</vt:lpwstr>
  </property>
  <property fmtid="{D5CDD505-2E9C-101B-9397-08002B2CF9AE}" pid="5" name="MSIP_Label_a7295cc1-d279-42ac-ab4d-3b0f4fece050_Name">
    <vt:lpwstr>FUJITSU-RESTRICTED​</vt:lpwstr>
  </property>
  <property fmtid="{D5CDD505-2E9C-101B-9397-08002B2CF9AE}" pid="6" name="MSIP_Label_a7295cc1-d279-42ac-ab4d-3b0f4fece050_SiteId">
    <vt:lpwstr>a19f121d-81e1-4858-a9d8-736e267fd4c7</vt:lpwstr>
  </property>
  <property fmtid="{D5CDD505-2E9C-101B-9397-08002B2CF9AE}" pid="7" name="MSIP_Label_a7295cc1-d279-42ac-ab4d-3b0f4fece050_ActionId">
    <vt:lpwstr>2213c45c-f659-4547-b6fb-40f3bd2d3676</vt:lpwstr>
  </property>
  <property fmtid="{D5CDD505-2E9C-101B-9397-08002B2CF9AE}" pid="8" name="MSIP_Label_a7295cc1-d279-42ac-ab4d-3b0f4fece050_ContentBits">
    <vt:lpwstr>0</vt:lpwstr>
  </property>
</Properties>
</file>